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63288"/>
  </p:normalViewPr>
  <p:slideViewPr>
    <p:cSldViewPr snapToGrid="0" snapToObjects="1">
      <p:cViewPr varScale="1">
        <p:scale>
          <a:sx n="78" d="100"/>
          <a:sy n="78" d="100"/>
        </p:scale>
        <p:origin x="24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9C889-772A-D44E-A1A2-EA1A4D9F358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34210-533A-0E44-8652-B02421556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3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 today we are going to present progress update of </a:t>
            </a:r>
            <a:r>
              <a:rPr lang="en-US" dirty="0" err="1"/>
              <a:t>TempoRAG</a:t>
            </a:r>
            <a:r>
              <a:rPr lang="en-US" dirty="0"/>
              <a:t>-KG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dive into the progress report, let me quickly walk you through what changed once we started building.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proposal, our plan was to evaluate temporal retrieval on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HotpotQA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MuSiQue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two standard multi-hop QA benchmarks built on Wikipedia.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once we set up the evaluation, we hit a problem: the questions in these datasets don't really carry timestamps. A question like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"Who is Apple's CEO?"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doesn't specify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Wikipedia itself has no canonical "as-of" date, because the pages keep getting rewritten.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discussed this with our TA, Gun. He pointed out that these aren't really the right datasets for evaluating temporal question answering and he recommended we move to a corpus with a cleaner temporal signal: SEC 10-K filings, which are public financial disclosures from the tech sector.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what you see on the right. We're now working with 25 filings — five tech mega-caps over five fiscal years. Every 10-K is filed for a specific fiscal year, so the year lives in the filing metadata, not in the text. That means temporal correctness becomes testable: if the question asks about fiscal year 2022, the retriever should surface the 2022 filing, not 2019.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 else from the proposal stayed the same — the KG²RAG backbone, the validity-interval schema, the three-layer ablation. Only the corpus moved.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next slide, I'll show the research questions and where we stand today.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50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have four research questions, RQ4  is new question after we have some change: can a small model paired with a temporal knowledge graph match what a large model does on its own? Our hypothesis is that temporal grounding closes the small-vs-large capability gap on temporal QA.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test it, we run a 2 × 2 factorial design — with or without a knowledge graph on one axis, with or without a temporal filter on the other — across seven LLMs and 129 hand-vetted questions.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gives us four conditions: Vanilla as the baseline,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TimeFilter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just the temporal filter, KG²RAG adds just the graph,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-KG is the full system combining both.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next slide, I'll show the pipeline that runs all four.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5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the full pipeline, left to right. We start with 25 10-K filings from 2019 to 2024, segmented at the item level into about 7,500 chunks of roughly 1,000 tokens each, then embedded with OpenAI's text-embedding-3-small. The whole index cost about seven cents and it's fully cached.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there, we fan out into the four retrieval conditions from the previous slide. Vanilla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TimeFilter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two "no-KG" branches in green — are both done. The two "+KG" branches, KG²RAG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-KG, are waiting on the knowledge-graph build, which is currently running.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retrieved context then goes through the same answer-generation step — seven models across three providers, all cached — and ends in the same evaluation: token-F1, coverage, and F1 on answered rows, each with a 95% bootstrap confidence interval, on 129 hand-vetted questions.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next slide, I'll show the results for the two conditions we've completed.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91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our results so far — L0 Vanilla versus L1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TimeFilter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across 7 models and 129 questions.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headline: adding a simple year-based temporal filter lifts F1 on every single model. The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Δ-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column in green ranges from plus 5.6% at the low end to plus 24.7% at the high end. So the direction is unambiguous.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call out three observations.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— the lift is universal.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Seven out of seven models improved. Not a single case where adding the filter hurt.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 — coverage is what drives the F1 gain.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blue column shows coverage jumped 3 to 10 percentage points across the board, while F1 on answered rows stayed essentially flat around 0.35. That means the temporal filter isn't making answers more accurate — it's making more questions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answerable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bottleneck is retrieval, not answer quality. This is the first direct signal that a retrieval-level intervention is doing real work.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 — small models benefit more than the mid-tier model.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Llama-8B got plus 24.7%, GPT-OSS-20B got plus 21%, while GPT-4o-mini got only plus 7.8%. Small models were leaving the most on the table, and temporal filtering gives it back. That's the early directional signal for RQ4.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next slide: where we're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leaving performance on the table — which motivates adding the knowledge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02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same gpt-4.1-nano data from the previous slide, but sliced by question type to show where the temporal filter helps and where it hits a ceiling.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left, sliced by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 count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two-hop questions, which are 104 of the 129, got a solid plus 0.048. But three-hop questions barely moved — plus 0.007. The hop-1 dip looks alarming at minus 0.131, but that's only 10 questions, and those are easy cases where vanilla already scores 0.34.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right, sliced by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inter-year questions got plus 0.055, cross-company got plus 0.051 — exactly where a year mask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help. But intra-year questions, where the question and all candidate chunks share the same year, are completely flat. The filter has nothing to filter.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takeaway: a metadata-level year filter works when 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discriminating signal — but it's blind to multi-hop entity chains. Three-hop reasoning needs cross-chunk entity linking, and metadata alone cannot provide that.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exactly what KG²RAG and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-KG add: graph walks across the cross-chunk relations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TimeFilter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blind to. On the next slide, I'll show the state of that 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5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 will explain what we are doing next.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building a knowledge graph from our data.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text, we extract simple facts and also add time information.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us answer time-based questions.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now, the process is still running.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that, we will clean the data,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build two systems: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using the graph, and one using both graph and time.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will test them and compare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04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there are four main points.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adding a temporal filter improves all models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around 5 to 25 percent.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main problem is retrieval, not the model itself.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answer quality stays similar, but the model can answer more questions.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small models improve more than large ones.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Last, multi-hop questions are still hard.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we need the knowledge graph.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34210-533A-0E44-8652-B02421556A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98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6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219200"/>
            <a:ext cx="11216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NLP Project Progress Update</a:t>
            </a:r>
            <a:endParaRPr lang="en-US" sz="1733" dirty="0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1731264"/>
            <a:ext cx="1121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33" b="1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TempoRAG-KG</a:t>
            </a:r>
            <a:endParaRPr lang="en-US" sz="6133" dirty="0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2901696"/>
            <a:ext cx="11216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Temporal Knowledge Graph-Augmented Retrieval</a:t>
            </a:r>
            <a:endParaRPr lang="en-US" sz="2400" dirty="0">
              <a:latin typeface="Century Gothic" panose="020B0502020202020204" pitchFamily="34" charset="0"/>
            </a:endParaRPr>
          </a:p>
          <a:p>
            <a:r>
              <a:rPr lang="en-US" sz="24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for Multi-Hop Question Answering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4023360"/>
            <a:ext cx="5486400" cy="42672"/>
          </a:xfrm>
          <a:prstGeom prst="rect">
            <a:avLst/>
          </a:prstGeom>
          <a:solidFill>
            <a:srgbClr val="3D8BCD"/>
          </a:solidFill>
          <a:ln w="12700">
            <a:solidFill>
              <a:srgbClr val="3D8BCD"/>
            </a:solidFill>
            <a:prstDash val="solid"/>
          </a:ln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4206240"/>
            <a:ext cx="11216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Supanut Kompayak  ·  Aphisit Jaemyaem  ·  Dechathon Niamsa-ard  ·  Kaung Hein Htet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4669536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Asian Institute of Technology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16640" y="6486144"/>
            <a:ext cx="8534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latin typeface="Century Gothic" panose="020B0502020202020204" pitchFamily="34" charset="0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From Wikipedia QA to SEC 10-K filings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203438"/>
              </p:ext>
            </p:extLst>
          </p:nvPr>
        </p:nvGraphicFramePr>
        <p:xfrm>
          <a:off x="365760" y="1280159"/>
          <a:ext cx="11745786" cy="481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2599">
                <a:tc>
                  <a:txBody>
                    <a:bodyPr/>
                    <a:lstStyle/>
                    <a:p>
                      <a:pPr algn="ctr"/>
                      <a:endParaRPr sz="28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Proposal round</a:t>
                      </a:r>
                      <a:endParaRPr sz="1800" b="1" dirty="0">
                        <a:solidFill>
                          <a:srgbClr val="FFFFFF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Progress round</a:t>
                      </a:r>
                      <a:endParaRPr sz="1800" b="1" dirty="0">
                        <a:solidFill>
                          <a:srgbClr val="FFFFFF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2599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Dataset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HotpotQA + MuSiQue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(Wikipedia multi-hop)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25 × 10-K filings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(5 tech mega-caps × 5 fiscal years)</a:t>
                      </a:r>
                    </a:p>
                  </a:txBody>
                  <a:tcPr anchor="ctr">
                    <a:solidFill>
                      <a:srgbClr val="DAE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2599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Core limitation we hit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Facts lack explicit year anchors;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Wikipedia spans decades with no canonical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"as of"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Every 10-K is filed for a specific fiscal year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— year is metadata, not inference</a:t>
                      </a:r>
                    </a:p>
                  </a:txBody>
                  <a:tcPr anchor="ctr">
                    <a:solidFill>
                      <a:srgbClr val="DAE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2599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Why it matters for us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Can't evaluate temporal filtering when</a:t>
                      </a:r>
                    </a:p>
                    <a:p>
                      <a:pPr algn="ctr"/>
                      <a:r>
                        <a:rPr sz="18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ground-truth time itself is ambiguous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Temporal correctness is testable —</a:t>
                      </a:r>
                    </a:p>
                    <a:p>
                      <a:pPr algn="ctr"/>
                      <a:r>
                        <a:rPr sz="18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filter right year, get right fact</a:t>
                      </a:r>
                    </a:p>
                  </a:txBody>
                  <a:tcPr anchor="ctr">
                    <a:solidFill>
                      <a:srgbClr val="DAE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68"/>
                </a:solidFill>
                <a:latin typeface="Century Gothic" panose="020B0502020202020204" pitchFamily="34" charset="0"/>
              </a:rPr>
              <a:t>Research questions &amp; experimental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39771"/>
              </p:ext>
            </p:extLst>
          </p:nvPr>
        </p:nvGraphicFramePr>
        <p:xfrm>
          <a:off x="365760" y="1143000"/>
          <a:ext cx="11704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#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Question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RQ1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Where does KG²RAG fail on temporal multi-hop QA?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RQ2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Does TempoRAG-KG lift F1 over KG²RAG?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RQ3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How accurate is temporal extraction?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RQ4 ★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Can small-LM + temporal-KG ≈ large-LM alone?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154680"/>
            <a:ext cx="1170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RQ4 hypothesis:  </a:t>
            </a:r>
            <a:r>
              <a:rPr sz="1400" i="1" dirty="0">
                <a:solidFill>
                  <a:srgbClr val="222222"/>
                </a:solidFill>
                <a:latin typeface="Century Gothic" panose="020B0502020202020204" pitchFamily="34" charset="0"/>
              </a:rPr>
              <a:t>Temporal grounding closes the small-vs-large capability gap on temporal QA.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49039"/>
            <a:ext cx="324159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A68"/>
                </a:solidFill>
                <a:latin typeface="Century Gothic" panose="020B0502020202020204" pitchFamily="34" charset="0"/>
              </a:rPr>
              <a:t>Test: 2 × 2 factorial · 7 models · 129 Qs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37119"/>
              </p:ext>
            </p:extLst>
          </p:nvPr>
        </p:nvGraphicFramePr>
        <p:xfrm>
          <a:off x="365759" y="4160520"/>
          <a:ext cx="112768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No KG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 KG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No Temporal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Vanilla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KG²RAG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 Temporal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TimeFilter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TempoRAG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-KG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15015-0BA2-F505-F2D3-14E3C86F9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294" y="931108"/>
            <a:ext cx="8305898" cy="5444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Temporal filtering lifts F1 on all 7 models  (+5.6% to +24.7%)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09308"/>
              </p:ext>
            </p:extLst>
          </p:nvPr>
        </p:nvGraphicFramePr>
        <p:xfrm>
          <a:off x="262889" y="1123713"/>
          <a:ext cx="11727182" cy="40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1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8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Vanilla 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+TimeFilter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Δ F1 %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Van cov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TF cov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Δ cov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F1@ans V→T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gpt-4.1-nano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+12.7%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63.6%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70.5%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+7.0pp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0.360 → 0.366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gpt-4o-mini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+7.8%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58.1%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62.8%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+4.7pp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 dirty="0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0.396 → 0.395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gpt-4o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+20.9%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47.6%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56.6%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+9.0pp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0.385 → 0.391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llama-70b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+23.7%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43.4%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53.5%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+10.1pp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0.333 → 0.335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llama-8b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+24.7%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48.1%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57.4%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+9.3pp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0.301 → 0.314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gpt-oss-120b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+5.6%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35.7%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38.8%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+3.1pp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0.366 → 0.356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0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gpt-oss-20b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+21.0%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37.2%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42.6%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+5.4pp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i="1" dirty="0">
                          <a:solidFill>
                            <a:srgbClr val="777777"/>
                          </a:solidFill>
                          <a:latin typeface="Century Gothic" panose="020B0502020202020204" pitchFamily="34" charset="0"/>
                        </a:rPr>
                        <a:t>0.320 → 0.336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368834"/>
            <a:ext cx="1152144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Universal lift  </a:t>
            </a:r>
            <a:r>
              <a:rPr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— 7/7 models improved (+5.6% to +24.7% F1).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Coverage drives F1  </a:t>
            </a:r>
            <a:r>
              <a:rPr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— </a:t>
            </a:r>
            <a:r>
              <a:rPr sz="14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Δ</a:t>
            </a:r>
            <a:r>
              <a:rPr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cov</a:t>
            </a:r>
            <a:r>
              <a:rPr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 +3 to +10pp;  F1@answered stays flat ≈ 0.35.  Bottleneck is retrieval, not answer quality.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Small-model benefit  </a:t>
            </a:r>
            <a:r>
              <a:rPr sz="1400" dirty="0">
                <a:solidFill>
                  <a:srgbClr val="222222"/>
                </a:solidFill>
                <a:latin typeface="Century Gothic" panose="020B0502020202020204" pitchFamily="34" charset="0"/>
              </a:rPr>
              <a:t>— llama-8b +24.7%, gpt-oss-20b +21.0% vs gpt-4o-mini +7.8%.  Early signal for RQ4 capability parity.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Where </a:t>
            </a:r>
            <a:r>
              <a:rPr sz="3200" b="1" dirty="0" err="1">
                <a:solidFill>
                  <a:srgbClr val="1F3A68"/>
                </a:solidFill>
                <a:latin typeface="Century Gothic" panose="020B0502020202020204" pitchFamily="34" charset="0"/>
              </a:rPr>
              <a:t>TimeFilter</a:t>
            </a:r>
            <a:r>
              <a:rPr sz="32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 hits its ceiling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31469"/>
              </p:ext>
            </p:extLst>
          </p:nvPr>
        </p:nvGraphicFramePr>
        <p:xfrm>
          <a:off x="121920" y="993483"/>
          <a:ext cx="54864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Hop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Vanilla 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TimeFilter 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hop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0.337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-0.131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hop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+0.048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hop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+0.007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21982"/>
              </p:ext>
            </p:extLst>
          </p:nvPr>
        </p:nvGraphicFramePr>
        <p:xfrm>
          <a:off x="5608320" y="993483"/>
          <a:ext cx="646176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Scope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Vanilla 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TimeFilter 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inter_year</a:t>
                      </a:r>
                      <a:endParaRPr sz="1600" dirty="0">
                        <a:solidFill>
                          <a:srgbClr val="22222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+0.055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cross_company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0.315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+0.051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intra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-0.001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fiscal_vs_calendar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0.301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-0.079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forward_looking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0.157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+0.019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4324512"/>
            <a:ext cx="11765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 err="1">
                <a:solidFill>
                  <a:srgbClr val="1F3A68"/>
                </a:solidFill>
                <a:latin typeface="Century Gothic" panose="020B0502020202020204" pitchFamily="34" charset="0"/>
              </a:rPr>
              <a:t>TimeFilter</a:t>
            </a: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 shines on year-sensitive questions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inter_year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+0.055,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cross_company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+0.051.  Exactly where a year mask should help.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No lift on intra (same-year) questions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Δ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≈ 0.  Year filter is a no-op when the question and all candidate chunks share one year.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hop = 3 barely moves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Δ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= +0.007 (n=15).  Multi-hop reasoning needs entity cross-linking, which metadata alone cannot provide.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→  This motivates KG²RAG and </a:t>
            </a:r>
            <a:r>
              <a:rPr sz="1600" b="1" dirty="0" err="1">
                <a:solidFill>
                  <a:srgbClr val="1F3A68"/>
                </a:solidFill>
                <a:latin typeface="Century Gothic" panose="020B0502020202020204" pitchFamily="34" charset="0"/>
              </a:rPr>
              <a:t>TempoRAG</a:t>
            </a: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-KG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graph walks add the cross-chunk relations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TimeFilter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is blind 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68"/>
                </a:solidFill>
                <a:latin typeface="Century Gothic" panose="020B0502020202020204" pitchFamily="34" charset="0"/>
              </a:rPr>
              <a:t>What's next — KG extraction and the L2 / L3 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0812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Century Gothic" panose="020B0502020202020204" pitchFamily="34" charset="0"/>
              </a:rPr>
              <a:t>KG extraction (running)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89639"/>
              </p:ext>
            </p:extLst>
          </p:nvPr>
        </p:nvGraphicFramePr>
        <p:xfrm>
          <a:off x="365760" y="173736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Stage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</a:rPr>
                        <a:t>Detail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Corpus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7,467 chunks from 25 × 10-K filings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Extractor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gpt-4.1-nano, temporal-aware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Schema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(subject, predicate, object, valid_from, valid_to)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Running (live + cached), mid-sweep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222"/>
                          </a:solidFill>
                          <a:latin typeface="Century Gothic" panose="020B0502020202020204" pitchFamily="34" charset="0"/>
                        </a:rPr>
                        <a:t>Well under $20 cap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280160"/>
            <a:ext cx="21788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68"/>
                </a:solidFill>
                <a:latin typeface="Century Gothic" panose="020B0502020202020204" pitchFamily="34" charset="0"/>
              </a:rPr>
              <a:t>Remaining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85216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1.  Finish extraction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complete full 7,467-chunk pass.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2.  Filter pass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drop noisy triples (e.g. object="true", comparative artifacts).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3.  Build KG²RAG retriever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seed chunk → graph walk → expanded context.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4.  Build </a:t>
            </a:r>
            <a:r>
              <a:rPr sz="1600" b="1" dirty="0" err="1">
                <a:solidFill>
                  <a:srgbClr val="1F3A68"/>
                </a:solidFill>
                <a:latin typeface="Century Gothic" panose="020B0502020202020204" pitchFamily="34" charset="0"/>
              </a:rPr>
              <a:t>TempoRAG</a:t>
            </a: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-KG retriever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KG²RAG + hard mask on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valid_from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 / </a:t>
            </a:r>
            <a:r>
              <a:rPr sz="16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valid_to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5.  Run L2 + L3 sweeps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same 7 models × 129 Qs.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6.  Interaction analysis  </a:t>
            </a:r>
            <a:r>
              <a:rPr sz="1600" dirty="0">
                <a:solidFill>
                  <a:srgbClr val="222222"/>
                </a:solidFill>
                <a:latin typeface="Century Gothic" panose="020B0502020202020204" pitchFamily="34" charset="0"/>
              </a:rPr>
              <a:t>— hop × scope × condition, test whether L3 &gt; L1 + L2.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822269"/>
            <a:ext cx="111556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1.  </a:t>
            </a:r>
            <a:r>
              <a:rPr sz="2400" b="1" dirty="0" err="1">
                <a:solidFill>
                  <a:srgbClr val="1F3A68"/>
                </a:solidFill>
                <a:latin typeface="Century Gothic" panose="020B0502020202020204" pitchFamily="34" charset="0"/>
              </a:rPr>
              <a:t>TimeFilter</a:t>
            </a:r>
            <a:r>
              <a:rPr sz="2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 baseline proven  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— +5.6% to +24.7% F1 across 7 models; lift is universal, not model-specific.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2.  Retrieval, not answer quality, is the bottleneck  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— F1@answered stays flat around 0.35 while coverage moves +3 to +10pp.  Any further lift must come from better retrieval.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3.  Small models benefit more than large  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— llama-8b +24.7% vs gpt-4o-mini +7.8%.  Directional support for the RQ4 capability-parity story.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400" b="1" dirty="0">
                <a:solidFill>
                  <a:srgbClr val="1F3A68"/>
                </a:solidFill>
                <a:latin typeface="Century Gothic" panose="020B0502020202020204" pitchFamily="34" charset="0"/>
              </a:rPr>
              <a:t>4.  Multi-hop is next  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— </a:t>
            </a:r>
            <a:r>
              <a:rPr sz="24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TimeFilter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 cannot lift hop = 3 (+0.007).  KG²RAG and </a:t>
            </a:r>
            <a:r>
              <a:rPr sz="2400" dirty="0" err="1">
                <a:solidFill>
                  <a:srgbClr val="222222"/>
                </a:solidFill>
                <a:latin typeface="Century Gothic" panose="020B0502020202020204" pitchFamily="34" charset="0"/>
              </a:rPr>
              <a:t>TempoRAG</a:t>
            </a:r>
            <a:r>
              <a:rPr sz="2400" dirty="0">
                <a:solidFill>
                  <a:srgbClr val="222222"/>
                </a:solidFill>
                <a:latin typeface="Century Gothic" panose="020B0502020202020204" pitchFamily="34" charset="0"/>
              </a:rPr>
              <a:t>-KG will target exactly this 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2110</Words>
  <Application>Microsoft Macintosh PowerPoint</Application>
  <PresentationFormat>Widescreen</PresentationFormat>
  <Paragraphs>261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Supanut Kompayak</cp:lastModifiedBy>
  <cp:revision>3</cp:revision>
  <cp:lastPrinted>2026-04-20T01:14:42Z</cp:lastPrinted>
  <dcterms:created xsi:type="dcterms:W3CDTF">2013-01-27T09:14:16Z</dcterms:created>
  <dcterms:modified xsi:type="dcterms:W3CDTF">2026-04-21T03:58:09Z</dcterms:modified>
  <cp:category/>
</cp:coreProperties>
</file>