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4"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E0129F-7411-7B40-BEE1-D60E4E9E3C4C}" v="1" dt="2026-03-23T02:50:25.5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2808"/>
  </p:normalViewPr>
  <p:slideViewPr>
    <p:cSldViewPr snapToGrid="0" snapToObjects="1">
      <p:cViewPr varScale="1">
        <p:scale>
          <a:sx n="121" d="100"/>
          <a:sy n="121" d="100"/>
        </p:scale>
        <p:origin x="19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2575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project is called </a:t>
            </a:r>
            <a:r>
              <a:rPr lang="en-GB" dirty="0" err="1"/>
              <a:t>TempoRAG</a:t>
            </a:r>
            <a:r>
              <a:rPr lang="en-GB" dirty="0"/>
              <a:t>-KG — Temporal Knowledge Graph-Augmented Retrieval for Multi-Hop Question Answering. The core idea is simple: we want KGs to be time-aware.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were studying KG²RAG and noticed something fundamental. When you build a knowledge graph from text, you get triples like these — Steve Jobs, </a:t>
            </a:r>
            <a:r>
              <a:rPr lang="en-GB" dirty="0" err="1"/>
              <a:t>CEO_of</a:t>
            </a:r>
            <a:r>
              <a:rPr lang="en-GB" dirty="0"/>
              <a:t>, Apple. Tim Cook, </a:t>
            </a:r>
            <a:r>
              <a:rPr lang="en-GB" dirty="0" err="1"/>
              <a:t>CEO_of</a:t>
            </a:r>
            <a:r>
              <a:rPr lang="en-GB" dirty="0"/>
              <a:t>, Apple. Both stored exactly the same way, with no timestamp attached.</a:t>
            </a:r>
          </a:p>
          <a:p>
            <a:r>
              <a:rPr lang="en-GB" dirty="0"/>
              <a:t>Now ask: </a:t>
            </a:r>
            <a:r>
              <a:rPr lang="en-GB" i="1" dirty="0"/>
              <a:t>Who was the CEO of Apple in 2005?</a:t>
            </a:r>
            <a:r>
              <a:rPr lang="en-GB" dirty="0"/>
              <a:t> The retriever pulls both facts. It has no way to decide which is valid in 2005. So it either hallucinates, or picks randomly.</a:t>
            </a:r>
          </a:p>
          <a:p>
            <a:r>
              <a:rPr lang="en-GB" dirty="0"/>
              <a:t>This isn't a model capability problem. It's a structural problem — the KG itself has no concept of time.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this matters more than you'd think. We did EDA on both our target datasets — 35% of </a:t>
            </a:r>
            <a:r>
              <a:rPr lang="en-GB" dirty="0" err="1"/>
              <a:t>HotpotQA</a:t>
            </a:r>
            <a:r>
              <a:rPr lang="en-GB" dirty="0"/>
              <a:t> questions and 38% of </a:t>
            </a:r>
            <a:r>
              <a:rPr lang="en-GB" dirty="0" err="1"/>
              <a:t>MuSiQue</a:t>
            </a:r>
            <a:r>
              <a:rPr lang="en-GB" dirty="0"/>
              <a:t> questions contain temporal expressions. More importantly, for 4-hop questions, that number rises to 46.7%. The harder the question, the more temporal it gets — because temporal errors compound across hops.</a:t>
            </a:r>
          </a:p>
          <a:p>
            <a:r>
              <a:rPr lang="en-GB" dirty="0"/>
              <a:t>We checked the literature: KG²RAG, GEAR, </a:t>
            </a:r>
            <a:r>
              <a:rPr lang="en-GB" dirty="0" err="1"/>
              <a:t>GraphRAG</a:t>
            </a:r>
            <a:r>
              <a:rPr lang="en-GB" dirty="0"/>
              <a:t>, GoG — none of them attach time to KG triples or filter by validity window. </a:t>
            </a:r>
            <a:r>
              <a:rPr lang="en-GB" dirty="0" err="1"/>
              <a:t>TempoRAG</a:t>
            </a:r>
            <a:r>
              <a:rPr lang="en-GB" dirty="0"/>
              <a:t>-KG is the first to do this on general-domain unstructured text.</a:t>
            </a:r>
          </a:p>
          <a:p>
            <a:endParaRPr lang="en-US" dirty="0"/>
          </a:p>
          <a:p>
            <a:r>
              <a:rPr lang="en-US"/>
              <a:t>This gap leads us to three research questions — can temporal filtering improve accuracy, does GoG fill-in help recover dead ends, and how well can we extract temporal context from queries? Our solution is designed to answer all three.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our solution has two key components, each borrowed from a different paper and extended for our setting.</a:t>
            </a:r>
          </a:p>
          <a:p>
            <a:r>
              <a:rPr lang="en-GB" dirty="0"/>
              <a:t>First, temporal triple tagging — inspired by </a:t>
            </a:r>
            <a:r>
              <a:rPr lang="en-GB" dirty="0" err="1"/>
              <a:t>TempAgent</a:t>
            </a:r>
            <a:r>
              <a:rPr lang="en-GB" dirty="0"/>
              <a:t> from Xiong et al. We attach a </a:t>
            </a:r>
            <a:r>
              <a:rPr lang="en-GB" dirty="0" err="1"/>
              <a:t>valid_from</a:t>
            </a:r>
            <a:r>
              <a:rPr lang="en-GB" dirty="0"/>
              <a:t> and </a:t>
            </a:r>
            <a:r>
              <a:rPr lang="en-GB" dirty="0" err="1"/>
              <a:t>valid_to</a:t>
            </a:r>
            <a:r>
              <a:rPr lang="en-GB" dirty="0"/>
              <a:t> interval to every KG triple at construction time. This makes filtering deterministic: keep an edge only if the query year falls inside its validity window.</a:t>
            </a:r>
          </a:p>
          <a:p>
            <a:r>
              <a:rPr lang="en-GB" dirty="0"/>
              <a:t>Second, the GoG fill-in mechanism from He et al. — because sometimes temporal filtering removes too many nodes and leaves dead ends in the graph. When that happens, we invoke the LLM's parametric knowledge as a fallback, with a confidence threshold of 0.7.</a:t>
            </a:r>
          </a:p>
          <a:p>
            <a:r>
              <a:rPr lang="en-GB" dirty="0"/>
              <a:t>We also defined a taxonomy of 4 temporal failure types that our system targets — Stale Fact, Conflicting Facts, Missing Context, and Hop Failure.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pipeline has two phases. Offline: we chunk documents, run LLM extraction to pull triples with </a:t>
            </a:r>
            <a:r>
              <a:rPr lang="en-GB" dirty="0" err="1"/>
              <a:t>valid_from</a:t>
            </a:r>
            <a:r>
              <a:rPr lang="en-GB" dirty="0"/>
              <a:t> and </a:t>
            </a:r>
            <a:r>
              <a:rPr lang="en-GB" dirty="0" err="1"/>
              <a:t>valid_to</a:t>
            </a:r>
            <a:r>
              <a:rPr lang="en-GB" dirty="0"/>
              <a:t>, then store them in Neo4j with a FAISS index alongside.</a:t>
            </a:r>
          </a:p>
          <a:p>
            <a:r>
              <a:rPr lang="en-GB" dirty="0"/>
              <a:t>Online: when a query arrives, we first detect whether it's temporal and extract the query year. We retrieve seed chunks, apply the temporal filter before graph expansion, then run GEAR beam search. If the search hits a dead end, GoG fill-in kicks in. Finally, MST-based path extraction feeds the LLM to generate the answer.</a:t>
            </a:r>
          </a:p>
          <a:p>
            <a:r>
              <a:rPr lang="en-GB" dirty="0"/>
              <a:t>Green boxes are our additions to the KG²RAG backbone.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evaluation, we'll use </a:t>
            </a:r>
            <a:r>
              <a:rPr lang="en-GB" dirty="0" err="1"/>
              <a:t>HotpotQA</a:t>
            </a:r>
            <a:r>
              <a:rPr lang="en-GB" dirty="0"/>
              <a:t> and </a:t>
            </a:r>
            <a:r>
              <a:rPr lang="en-GB" dirty="0" err="1"/>
              <a:t>MuSiQue</a:t>
            </a:r>
            <a:r>
              <a:rPr lang="en-GB" dirty="0"/>
              <a:t>. Our primary metrics are F1 and EM split across overall, temporal, and non-temporal subsets — because we need to verify we're improving temporal questions without hurting non-temporal ones.</a:t>
            </a:r>
          </a:p>
          <a:p>
            <a:r>
              <a:rPr lang="en-GB" dirty="0"/>
              <a:t>The ablation table on the right shows how we'll isolate each component's contribution. The expected results table is placeholder for now — results will be filled after experiments complete.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terms of progress: literature review, EDA, taxonomy, and competitor analysis are done. We're currently setting up Neo4j and building the temporal extraction prompts.</a:t>
            </a:r>
          </a:p>
          <a:p>
            <a:r>
              <a:rPr lang="en-GB" dirty="0"/>
              <a:t>Our </a:t>
            </a:r>
            <a:r>
              <a:rPr lang="en-GB"/>
              <a:t>core is </a:t>
            </a:r>
            <a:r>
              <a:rPr lang="en-GB" dirty="0"/>
              <a:t>this — temporal validity should be a first-class property of KG edges, not something we retrofit later. That's the gap we're closing.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DA51639-B2D6-4652-B8C3-1B4C224A7BAF}"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1119254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1788781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GB"/>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4961B7-6B89-48AB-966F-622E2788EECC}"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9168175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BC48EC7-AF6A-48D3-8284-14BACBEBDD84}" type="datetimeFigureOut">
              <a:rPr lang="en-US" smtClean="0"/>
              <a:t>3/23/26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134477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BC48EC7-AF6A-48D3-8284-14BACBEBDD84}" type="datetimeFigureOut">
              <a:rPr lang="en-US" smtClean="0"/>
              <a:t>3/23/26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8571351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10B90D90-AA62-404D-A741-635B4370F9CB}" type="datetimeFigureOut">
              <a:rPr lang="en-US" smtClean="0"/>
              <a:t>3/23/26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7427857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57002E4-6836-46D1-9DBB-3C27C0DD3A89}" type="datetimeFigureOut">
              <a:rPr lang="en-US" smtClean="0"/>
              <a:t>3/23/26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4289082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GB"/>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7" name="Date Placeholder 4"/>
          <p:cNvSpPr>
            <a:spLocks noGrp="1"/>
          </p:cNvSpPr>
          <p:nvPr>
            <p:ph type="dt" sz="half" idx="10"/>
          </p:nvPr>
        </p:nvSpPr>
        <p:spPr/>
        <p:txBody>
          <a:bodyPr/>
          <a:lstStyle/>
          <a:p>
            <a:fld id="{CBC48EC7-AF6A-48D3-8284-14BACBEBDD84}" type="datetimeFigureOut">
              <a:rPr lang="en-US" smtClean="0"/>
              <a:t>3/23/26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9753675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AB334A90-EB03-42F3-8859-2C2B2724C058}" type="datetimeFigureOut">
              <a:rPr lang="en-US" smtClean="0"/>
              <a:t>3/23/26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240730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CBC48EC7-AF6A-48D3-8284-14BACBEBDD84}" type="datetimeFigureOut">
              <a:rPr lang="en-US" smtClean="0"/>
              <a:t>3/23/26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9820186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GB"/>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4"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6992359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GB"/>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GB"/>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4"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30492207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GB"/>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9196526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GB"/>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9465172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GB"/>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289446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9036655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9699466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8176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5999560" y="0"/>
            <a:ext cx="1202540" cy="856055"/>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GB"/>
              <a:t>Click to edit Master title style</a:t>
            </a:r>
            <a:endParaRPr lang="en-US"/>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CBC48EC7-AF6A-48D3-8284-14BACBEBDD84}" type="datetimeFigureOut">
              <a:rPr lang="en-US" smtClean="0"/>
              <a:t>3/23/26</a:t>
            </a:fld>
            <a:endParaRPr lang="en-US"/>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4FAB73BC-B049-4115-A692-8D63A059BFB8}" type="slidenum">
              <a:rPr lang="en-US" smtClean="0"/>
              <a:pPr/>
              <a:t>‹#›</a:t>
            </a:fld>
            <a:endParaRPr lang="en-US"/>
          </a:p>
        </p:txBody>
      </p:sp>
    </p:spTree>
    <p:extLst>
      <p:ext uri="{BB962C8B-B14F-4D97-AF65-F5344CB8AC3E}">
        <p14:creationId xmlns:p14="http://schemas.microsoft.com/office/powerpoint/2010/main" val="501534823"/>
      </p:ext>
    </p:extLst>
  </p:cSld>
  <p:clrMap bg1="dk1" tx1="lt1" bg2="dk2" tx2="lt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 id="2147483801" r:id="rId17"/>
    <p:sldLayoutId id="2147483802" r:id="rId18"/>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D8BCD"/>
          </a:solidFill>
          <a:ln w="12700">
            <a:solidFill>
              <a:srgbClr val="3D8BCD"/>
            </a:solidFill>
            <a:prstDash val="solid"/>
          </a:ln>
        </p:spPr>
        <p:txBody>
          <a:bodyPr/>
          <a:lstStyle/>
          <a:p>
            <a:endParaRPr lang="en-US">
              <a:latin typeface="Century Gothic" panose="020B0502020202020204" pitchFamily="34" charset="0"/>
            </a:endParaRPr>
          </a:p>
        </p:txBody>
      </p:sp>
      <p:sp>
        <p:nvSpPr>
          <p:cNvPr id="3" name="Text 1"/>
          <p:cNvSpPr/>
          <p:nvPr/>
        </p:nvSpPr>
        <p:spPr>
          <a:xfrm>
            <a:off x="365760" y="914400"/>
            <a:ext cx="8412480" cy="320040"/>
          </a:xfrm>
          <a:prstGeom prst="rect">
            <a:avLst/>
          </a:prstGeom>
          <a:noFill/>
          <a:ln/>
        </p:spPr>
        <p:txBody>
          <a:bodyPr wrap="square" lIns="0" tIns="0" rIns="0" bIns="0" rtlCol="0" anchor="ctr"/>
          <a:lstStyle/>
          <a:p>
            <a:pPr marL="0" indent="0">
              <a:buNone/>
            </a:pPr>
            <a:r>
              <a:rPr lang="en-US" sz="1300" dirty="0">
                <a:latin typeface="Century Gothic" panose="020B0502020202020204" pitchFamily="34" charset="0"/>
                <a:ea typeface="Calibri" pitchFamily="34" charset="-122"/>
                <a:cs typeface="Calibri" pitchFamily="34" charset="-120"/>
              </a:rPr>
              <a:t>NLP Project Proposal</a:t>
            </a:r>
            <a:endParaRPr lang="en-US" sz="1300" dirty="0">
              <a:latin typeface="Century Gothic" panose="020B0502020202020204" pitchFamily="34" charset="0"/>
            </a:endParaRPr>
          </a:p>
        </p:txBody>
      </p:sp>
      <p:sp>
        <p:nvSpPr>
          <p:cNvPr id="4" name="Text 2"/>
          <p:cNvSpPr/>
          <p:nvPr/>
        </p:nvSpPr>
        <p:spPr>
          <a:xfrm>
            <a:off x="365760" y="1298448"/>
            <a:ext cx="8412480" cy="822960"/>
          </a:xfrm>
          <a:prstGeom prst="rect">
            <a:avLst/>
          </a:prstGeom>
          <a:noFill/>
          <a:ln/>
        </p:spPr>
        <p:txBody>
          <a:bodyPr wrap="square" lIns="0" tIns="0" rIns="0" bIns="0" rtlCol="0" anchor="ctr"/>
          <a:lstStyle/>
          <a:p>
            <a:pPr marL="0" indent="0">
              <a:buNone/>
            </a:pPr>
            <a:r>
              <a:rPr lang="en-US" sz="4600" b="1" dirty="0">
                <a:latin typeface="Century Gothic" panose="020B0502020202020204" pitchFamily="34" charset="0"/>
                <a:ea typeface="Calibri" pitchFamily="34" charset="-122"/>
                <a:cs typeface="Calibri" pitchFamily="34" charset="-120"/>
              </a:rPr>
              <a:t>TempoRAG-KG</a:t>
            </a:r>
            <a:endParaRPr lang="en-US" sz="4600" dirty="0">
              <a:latin typeface="Century Gothic" panose="020B0502020202020204" pitchFamily="34" charset="0"/>
            </a:endParaRPr>
          </a:p>
        </p:txBody>
      </p:sp>
      <p:sp>
        <p:nvSpPr>
          <p:cNvPr id="5" name="Text 3"/>
          <p:cNvSpPr/>
          <p:nvPr/>
        </p:nvSpPr>
        <p:spPr>
          <a:xfrm>
            <a:off x="365760" y="2176272"/>
            <a:ext cx="8412480" cy="749808"/>
          </a:xfrm>
          <a:prstGeom prst="rect">
            <a:avLst/>
          </a:prstGeom>
          <a:noFill/>
          <a:ln/>
        </p:spPr>
        <p:txBody>
          <a:bodyPr wrap="square" lIns="0" tIns="0" rIns="0" bIns="0" rtlCol="0" anchor="ctr"/>
          <a:lstStyle/>
          <a:p>
            <a:pPr marL="0" indent="0">
              <a:buNone/>
            </a:pPr>
            <a:r>
              <a:rPr lang="en-US" sz="1800" dirty="0">
                <a:latin typeface="Century Gothic" panose="020B0502020202020204" pitchFamily="34" charset="0"/>
                <a:ea typeface="Calibri" pitchFamily="34" charset="-122"/>
                <a:cs typeface="Calibri" pitchFamily="34" charset="-120"/>
              </a:rPr>
              <a:t>Temporal Knowledge Graph-Augmented Retrieval</a:t>
            </a:r>
            <a:endParaRPr lang="en-US" sz="1800" dirty="0">
              <a:latin typeface="Century Gothic" panose="020B0502020202020204" pitchFamily="34" charset="0"/>
            </a:endParaRPr>
          </a:p>
          <a:p>
            <a:pPr marL="0" indent="0">
              <a:buNone/>
            </a:pPr>
            <a:r>
              <a:rPr lang="en-US" sz="1800" dirty="0">
                <a:latin typeface="Century Gothic" panose="020B0502020202020204" pitchFamily="34" charset="0"/>
                <a:ea typeface="Calibri" pitchFamily="34" charset="-122"/>
                <a:cs typeface="Calibri" pitchFamily="34" charset="-120"/>
              </a:rPr>
              <a:t>for Multi-Hop Question Answering</a:t>
            </a:r>
            <a:endParaRPr lang="en-US" sz="1800" dirty="0">
              <a:latin typeface="Century Gothic" panose="020B0502020202020204" pitchFamily="34" charset="0"/>
            </a:endParaRPr>
          </a:p>
        </p:txBody>
      </p:sp>
      <p:sp>
        <p:nvSpPr>
          <p:cNvPr id="6" name="Shape 4"/>
          <p:cNvSpPr/>
          <p:nvPr/>
        </p:nvSpPr>
        <p:spPr>
          <a:xfrm>
            <a:off x="365760" y="3017520"/>
            <a:ext cx="4114800" cy="32004"/>
          </a:xfrm>
          <a:prstGeom prst="rect">
            <a:avLst/>
          </a:prstGeom>
          <a:solidFill>
            <a:srgbClr val="3D8BCD"/>
          </a:solidFill>
          <a:ln w="12700">
            <a:solidFill>
              <a:srgbClr val="3D8BCD"/>
            </a:solidFill>
            <a:prstDash val="solid"/>
          </a:ln>
        </p:spPr>
        <p:txBody>
          <a:bodyPr/>
          <a:lstStyle/>
          <a:p>
            <a:endParaRPr lang="en-US">
              <a:latin typeface="Century Gothic" panose="020B0502020202020204" pitchFamily="34" charset="0"/>
            </a:endParaRPr>
          </a:p>
        </p:txBody>
      </p:sp>
      <p:sp>
        <p:nvSpPr>
          <p:cNvPr id="7" name="Text 5"/>
          <p:cNvSpPr/>
          <p:nvPr/>
        </p:nvSpPr>
        <p:spPr>
          <a:xfrm>
            <a:off x="365760" y="3154680"/>
            <a:ext cx="8412480" cy="320040"/>
          </a:xfrm>
          <a:prstGeom prst="rect">
            <a:avLst/>
          </a:prstGeom>
          <a:noFill/>
          <a:ln/>
        </p:spPr>
        <p:txBody>
          <a:bodyPr wrap="square" lIns="0" tIns="0" rIns="0" bIns="0" rtlCol="0" anchor="ctr"/>
          <a:lstStyle/>
          <a:p>
            <a:pPr marL="0" indent="0">
              <a:buNone/>
            </a:pPr>
            <a:r>
              <a:rPr lang="en-US" sz="1200" dirty="0">
                <a:latin typeface="Century Gothic" panose="020B0502020202020204" pitchFamily="34" charset="0"/>
                <a:ea typeface="Calibri" pitchFamily="34" charset="-122"/>
                <a:cs typeface="Calibri" pitchFamily="34" charset="-120"/>
              </a:rPr>
              <a:t>Supanut Kompayak  ·  Aphisit Jaemyaem  ·  Dechathon Niamsa-ard  ·  Kaung Hein Htet</a:t>
            </a:r>
            <a:endParaRPr lang="en-US" sz="1200" dirty="0">
              <a:latin typeface="Century Gothic" panose="020B0502020202020204" pitchFamily="34" charset="0"/>
            </a:endParaRPr>
          </a:p>
        </p:txBody>
      </p:sp>
      <p:sp>
        <p:nvSpPr>
          <p:cNvPr id="8" name="Text 6"/>
          <p:cNvSpPr/>
          <p:nvPr/>
        </p:nvSpPr>
        <p:spPr>
          <a:xfrm>
            <a:off x="365760" y="3502152"/>
            <a:ext cx="8412480" cy="274320"/>
          </a:xfrm>
          <a:prstGeom prst="rect">
            <a:avLst/>
          </a:prstGeom>
          <a:noFill/>
          <a:ln/>
        </p:spPr>
        <p:txBody>
          <a:bodyPr wrap="square" lIns="0" tIns="0" rIns="0" bIns="0" rtlCol="0" anchor="ctr"/>
          <a:lstStyle/>
          <a:p>
            <a:pPr marL="0" indent="0">
              <a:buNone/>
            </a:pPr>
            <a:r>
              <a:rPr lang="en-US" sz="1200" dirty="0">
                <a:latin typeface="Century Gothic" panose="020B0502020202020204" pitchFamily="34" charset="0"/>
                <a:ea typeface="Calibri" pitchFamily="34" charset="-122"/>
                <a:cs typeface="Calibri" pitchFamily="34" charset="-120"/>
              </a:rPr>
              <a:t>Asian Institute of Technology</a:t>
            </a:r>
            <a:endParaRPr lang="en-US" sz="1200" dirty="0">
              <a:latin typeface="Century Gothic" panose="020B0502020202020204" pitchFamily="34" charset="0"/>
            </a:endParaRPr>
          </a:p>
        </p:txBody>
      </p:sp>
      <p:sp>
        <p:nvSpPr>
          <p:cNvPr id="9" name="Text 7"/>
          <p:cNvSpPr/>
          <p:nvPr/>
        </p:nvSpPr>
        <p:spPr>
          <a:xfrm>
            <a:off x="8412480" y="4864608"/>
            <a:ext cx="640080" cy="201168"/>
          </a:xfrm>
          <a:prstGeom prst="rect">
            <a:avLst/>
          </a:prstGeom>
          <a:noFill/>
          <a:ln/>
        </p:spPr>
        <p:txBody>
          <a:bodyPr wrap="square" lIns="0" tIns="0" rIns="0" bIns="0" rtlCol="0" anchor="ctr"/>
          <a:lstStyle/>
          <a:p>
            <a:pPr marL="0" indent="0" algn="r">
              <a:buNone/>
            </a:pPr>
            <a:r>
              <a:rPr lang="en-US" sz="900" dirty="0">
                <a:latin typeface="Century Gothic" panose="020B0502020202020204" pitchFamily="34" charset="0"/>
              </a:rPr>
              <a:t>1 / 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BCD"/>
          </a:solidFill>
          <a:ln w="12700">
            <a:solidFill>
              <a:srgbClr val="3D8BCD"/>
            </a:solidFill>
            <a:prstDash val="solid"/>
          </a:ln>
        </p:spPr>
        <p:txBody>
          <a:bodyPr/>
          <a:lstStyle/>
          <a:p>
            <a:endParaRPr lang="en-US">
              <a:latin typeface="Century Gothic" panose="020B0502020202020204" pitchFamily="34" charset="0"/>
            </a:endParaRPr>
          </a:p>
        </p:txBody>
      </p:sp>
      <p:sp>
        <p:nvSpPr>
          <p:cNvPr id="3" name="Text 1"/>
          <p:cNvSpPr/>
          <p:nvPr/>
        </p:nvSpPr>
        <p:spPr>
          <a:xfrm>
            <a:off x="457200" y="137160"/>
            <a:ext cx="7772400" cy="566928"/>
          </a:xfrm>
          <a:prstGeom prst="rect">
            <a:avLst/>
          </a:prstGeom>
          <a:noFill/>
          <a:ln/>
        </p:spPr>
        <p:txBody>
          <a:bodyPr wrap="square" lIns="0" tIns="0" rIns="0" bIns="0" rtlCol="0" anchor="ctr"/>
          <a:lstStyle/>
          <a:p>
            <a:pPr marL="0" indent="0">
              <a:buNone/>
            </a:pPr>
            <a:r>
              <a:rPr lang="en-US" sz="3400" b="1" dirty="0">
                <a:solidFill>
                  <a:srgbClr val="1E293B"/>
                </a:solidFill>
                <a:latin typeface="Century Gothic" panose="020B0502020202020204" pitchFamily="34" charset="0"/>
                <a:ea typeface="Calibri" pitchFamily="34" charset="-122"/>
                <a:cs typeface="Calibri" pitchFamily="34" charset="-120"/>
              </a:rPr>
              <a:t>We noticed a gap in KG²RAG</a:t>
            </a:r>
            <a:endParaRPr lang="en-US" sz="3400" dirty="0">
              <a:latin typeface="Century Gothic" panose="020B0502020202020204" pitchFamily="34" charset="0"/>
            </a:endParaRPr>
          </a:p>
        </p:txBody>
      </p:sp>
      <p:sp>
        <p:nvSpPr>
          <p:cNvPr id="4" name="Text 2"/>
          <p:cNvSpPr/>
          <p:nvPr/>
        </p:nvSpPr>
        <p:spPr>
          <a:xfrm>
            <a:off x="6303364" y="539496"/>
            <a:ext cx="3657600" cy="256032"/>
          </a:xfrm>
          <a:prstGeom prst="rect">
            <a:avLst/>
          </a:prstGeom>
          <a:noFill/>
          <a:ln/>
        </p:spPr>
        <p:txBody>
          <a:bodyPr wrap="square" lIns="0" tIns="0" rIns="0" bIns="0" rtlCol="0" anchor="ctr"/>
          <a:lstStyle/>
          <a:p>
            <a:pPr marL="0" indent="0">
              <a:buNone/>
            </a:pPr>
            <a:r>
              <a:rPr lang="en-US" sz="1100" i="1" dirty="0">
                <a:solidFill>
                  <a:srgbClr val="64748B"/>
                </a:solidFill>
                <a:latin typeface="Century Gothic" panose="020B0502020202020204" pitchFamily="34" charset="0"/>
                <a:ea typeface="Calibri" pitchFamily="34" charset="-122"/>
                <a:cs typeface="Calibri" pitchFamily="34" charset="-120"/>
              </a:rPr>
              <a:t>(Soman et al., 2024)</a:t>
            </a:r>
            <a:endParaRPr lang="en-US" sz="1100" dirty="0">
              <a:latin typeface="Century Gothic" panose="020B0502020202020204" pitchFamily="34" charset="0"/>
            </a:endParaRPr>
          </a:p>
        </p:txBody>
      </p:sp>
      <p:sp>
        <p:nvSpPr>
          <p:cNvPr id="5" name="Text 3"/>
          <p:cNvSpPr/>
          <p:nvPr/>
        </p:nvSpPr>
        <p:spPr>
          <a:xfrm>
            <a:off x="365760" y="877824"/>
            <a:ext cx="3291840" cy="274320"/>
          </a:xfrm>
          <a:prstGeom prst="rect">
            <a:avLst/>
          </a:prstGeom>
          <a:noFill/>
          <a:ln/>
        </p:spPr>
        <p:txBody>
          <a:bodyPr wrap="square" lIns="0" tIns="0" rIns="0" bIns="0" rtlCol="0" anchor="ctr"/>
          <a:lstStyle/>
          <a:p>
            <a:pPr marL="0" indent="0">
              <a:buNone/>
            </a:pPr>
            <a:r>
              <a:rPr lang="en-US" sz="1200" b="1" dirty="0">
                <a:solidFill>
                  <a:schemeClr val="bg1"/>
                </a:solidFill>
                <a:latin typeface="Century Gothic" panose="020B0502020202020204" pitchFamily="34" charset="0"/>
                <a:ea typeface="Calibri" pitchFamily="34" charset="-122"/>
                <a:cs typeface="Calibri" pitchFamily="34" charset="-120"/>
              </a:rPr>
              <a:t>What the Knowledge Graph stores:</a:t>
            </a:r>
            <a:endParaRPr lang="en-US" sz="1200" dirty="0">
              <a:solidFill>
                <a:schemeClr val="bg1"/>
              </a:solidFill>
              <a:latin typeface="Century Gothic" panose="020B0502020202020204" pitchFamily="34" charset="0"/>
            </a:endParaRPr>
          </a:p>
        </p:txBody>
      </p:sp>
      <p:sp>
        <p:nvSpPr>
          <p:cNvPr id="6" name="Shape 4"/>
          <p:cNvSpPr/>
          <p:nvPr/>
        </p:nvSpPr>
        <p:spPr>
          <a:xfrm>
            <a:off x="365760" y="1371600"/>
            <a:ext cx="3291840" cy="54864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a:latin typeface="Century Gothic" panose="020B0502020202020204" pitchFamily="34" charset="0"/>
            </a:endParaRPr>
          </a:p>
        </p:txBody>
      </p:sp>
      <p:sp>
        <p:nvSpPr>
          <p:cNvPr id="7" name="Text 5"/>
          <p:cNvSpPr/>
          <p:nvPr/>
        </p:nvSpPr>
        <p:spPr>
          <a:xfrm>
            <a:off x="457200" y="1371600"/>
            <a:ext cx="3108960" cy="548640"/>
          </a:xfrm>
          <a:prstGeom prst="rect">
            <a:avLst/>
          </a:prstGeom>
          <a:noFill/>
          <a:ln/>
        </p:spPr>
        <p:txBody>
          <a:bodyPr wrap="square" lIns="0" tIns="0" rIns="0" bIns="0" rtlCol="0" anchor="ctr"/>
          <a:lstStyle/>
          <a:p>
            <a:pPr marL="0" indent="0" algn="ctr">
              <a:buNone/>
            </a:pPr>
            <a:r>
              <a:rPr lang="en-US" sz="1250" dirty="0">
                <a:solidFill>
                  <a:srgbClr val="1E293B"/>
                </a:solidFill>
                <a:latin typeface="Century Gothic" panose="020B0502020202020204" pitchFamily="34" charset="0"/>
                <a:ea typeface="Courier New" pitchFamily="34" charset="-122"/>
                <a:cs typeface="Courier New" pitchFamily="34" charset="-120"/>
              </a:rPr>
              <a:t>Steve Jobs  ·  CEO_of  ·  Apple</a:t>
            </a:r>
            <a:endParaRPr lang="en-US" sz="1250" dirty="0">
              <a:latin typeface="Century Gothic" panose="020B0502020202020204" pitchFamily="34" charset="0"/>
            </a:endParaRPr>
          </a:p>
        </p:txBody>
      </p:sp>
      <p:sp>
        <p:nvSpPr>
          <p:cNvPr id="8" name="Shape 6"/>
          <p:cNvSpPr/>
          <p:nvPr/>
        </p:nvSpPr>
        <p:spPr>
          <a:xfrm>
            <a:off x="365760" y="2029968"/>
            <a:ext cx="3291840" cy="54864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a:latin typeface="Century Gothic" panose="020B0502020202020204" pitchFamily="34" charset="0"/>
            </a:endParaRPr>
          </a:p>
        </p:txBody>
      </p:sp>
      <p:sp>
        <p:nvSpPr>
          <p:cNvPr id="9" name="Text 7"/>
          <p:cNvSpPr/>
          <p:nvPr/>
        </p:nvSpPr>
        <p:spPr>
          <a:xfrm>
            <a:off x="457200" y="2029968"/>
            <a:ext cx="3108960" cy="548640"/>
          </a:xfrm>
          <a:prstGeom prst="rect">
            <a:avLst/>
          </a:prstGeom>
          <a:noFill/>
          <a:ln/>
        </p:spPr>
        <p:txBody>
          <a:bodyPr wrap="square" lIns="0" tIns="0" rIns="0" bIns="0" rtlCol="0" anchor="ctr"/>
          <a:lstStyle/>
          <a:p>
            <a:pPr marL="0" indent="0" algn="ctr">
              <a:buNone/>
            </a:pPr>
            <a:r>
              <a:rPr lang="en-US" sz="1250" dirty="0">
                <a:solidFill>
                  <a:srgbClr val="1E293B"/>
                </a:solidFill>
                <a:latin typeface="Century Gothic" panose="020B0502020202020204" pitchFamily="34" charset="0"/>
                <a:ea typeface="Courier New" pitchFamily="34" charset="-122"/>
                <a:cs typeface="Courier New" pitchFamily="34" charset="-120"/>
              </a:rPr>
              <a:t>Tim Cook  ·  CEO_of  ·  Apple</a:t>
            </a:r>
            <a:endParaRPr lang="en-US" sz="1250" dirty="0">
              <a:latin typeface="Century Gothic" panose="020B0502020202020204" pitchFamily="34" charset="0"/>
            </a:endParaRPr>
          </a:p>
        </p:txBody>
      </p:sp>
      <p:sp>
        <p:nvSpPr>
          <p:cNvPr id="10" name="Shape 8"/>
          <p:cNvSpPr/>
          <p:nvPr/>
        </p:nvSpPr>
        <p:spPr>
          <a:xfrm>
            <a:off x="365760" y="2743200"/>
            <a:ext cx="3291840" cy="347472"/>
          </a:xfrm>
          <a:prstGeom prst="rect">
            <a:avLst/>
          </a:prstGeom>
          <a:solidFill>
            <a:srgbClr val="FEF9C3"/>
          </a:solidFill>
          <a:ln w="12700">
            <a:solidFill>
              <a:srgbClr val="FDE047"/>
            </a:solidFill>
            <a:prstDash val="solid"/>
          </a:ln>
        </p:spPr>
        <p:txBody>
          <a:bodyPr/>
          <a:lstStyle/>
          <a:p>
            <a:endParaRPr lang="en-US">
              <a:latin typeface="Century Gothic" panose="020B0502020202020204" pitchFamily="34" charset="0"/>
            </a:endParaRPr>
          </a:p>
        </p:txBody>
      </p:sp>
      <p:sp>
        <p:nvSpPr>
          <p:cNvPr id="11" name="Text 9"/>
          <p:cNvSpPr/>
          <p:nvPr/>
        </p:nvSpPr>
        <p:spPr>
          <a:xfrm>
            <a:off x="411480" y="2743200"/>
            <a:ext cx="3200400" cy="347472"/>
          </a:xfrm>
          <a:prstGeom prst="rect">
            <a:avLst/>
          </a:prstGeom>
          <a:noFill/>
          <a:ln/>
        </p:spPr>
        <p:txBody>
          <a:bodyPr wrap="square" lIns="0" tIns="0" rIns="0" bIns="0" rtlCol="0" anchor="ctr"/>
          <a:lstStyle/>
          <a:p>
            <a:pPr marL="0" indent="0" algn="ctr">
              <a:buNone/>
            </a:pPr>
            <a:r>
              <a:rPr lang="en-US" sz="1100" dirty="0">
                <a:solidFill>
                  <a:srgbClr val="92400E"/>
                </a:solidFill>
                <a:latin typeface="Century Gothic" panose="020B0502020202020204" pitchFamily="34" charset="0"/>
                <a:ea typeface="Calibri" pitchFamily="34" charset="-122"/>
                <a:cs typeface="Calibri" pitchFamily="34" charset="-120"/>
              </a:rPr>
              <a:t>⚠  No temporal info — both look equally valid</a:t>
            </a:r>
            <a:endParaRPr lang="en-US" sz="1100" dirty="0">
              <a:latin typeface="Century Gothic" panose="020B0502020202020204" pitchFamily="34" charset="0"/>
            </a:endParaRPr>
          </a:p>
        </p:txBody>
      </p:sp>
      <p:sp>
        <p:nvSpPr>
          <p:cNvPr id="12" name="Shape 10"/>
          <p:cNvSpPr/>
          <p:nvPr/>
        </p:nvSpPr>
        <p:spPr>
          <a:xfrm>
            <a:off x="4014216" y="1541588"/>
            <a:ext cx="2011680" cy="1005840"/>
          </a:xfrm>
          <a:prstGeom prst="rect">
            <a:avLst/>
          </a:prstGeom>
          <a:solidFill>
            <a:srgbClr val="EBF4FF"/>
          </a:solidFill>
          <a:ln w="19050">
            <a:solidFill>
              <a:srgbClr val="3D8BCD"/>
            </a:solidFill>
            <a:prstDash val="solid"/>
          </a:ln>
          <a:effectLst>
            <a:outerShdw blurRad="63500" dist="12700" dir="8100000" algn="bl" rotWithShape="0">
              <a:srgbClr val="000000">
                <a:alpha val="7000"/>
              </a:srgbClr>
            </a:outerShdw>
          </a:effectLst>
        </p:spPr>
        <p:txBody>
          <a:bodyPr/>
          <a:lstStyle/>
          <a:p>
            <a:endParaRPr lang="en-US">
              <a:latin typeface="Century Gothic" panose="020B0502020202020204" pitchFamily="34" charset="0"/>
            </a:endParaRPr>
          </a:p>
        </p:txBody>
      </p:sp>
      <p:sp>
        <p:nvSpPr>
          <p:cNvPr id="13" name="Text 11"/>
          <p:cNvSpPr/>
          <p:nvPr/>
        </p:nvSpPr>
        <p:spPr>
          <a:xfrm>
            <a:off x="4014216" y="1541588"/>
            <a:ext cx="2011680" cy="1005840"/>
          </a:xfrm>
          <a:prstGeom prst="rect">
            <a:avLst/>
          </a:prstGeom>
          <a:noFill/>
          <a:ln/>
        </p:spPr>
        <p:txBody>
          <a:bodyPr wrap="square" lIns="76200" tIns="76200" rIns="76200" bIns="76200" rtlCol="0" anchor="ctr"/>
          <a:lstStyle/>
          <a:p>
            <a:pPr marL="0" indent="0" algn="ctr">
              <a:buNone/>
            </a:pPr>
            <a:r>
              <a:rPr lang="en-US" sz="1200" b="1" dirty="0">
                <a:solidFill>
                  <a:srgbClr val="1E5F8E"/>
                </a:solidFill>
                <a:latin typeface="Century Gothic" panose="020B0502020202020204" pitchFamily="34" charset="0"/>
                <a:ea typeface="Calibri" pitchFamily="34" charset="-122"/>
                <a:cs typeface="Calibri" pitchFamily="34" charset="-120"/>
              </a:rPr>
              <a:t>Query:</a:t>
            </a:r>
            <a:endParaRPr lang="en-US" sz="1200" dirty="0">
              <a:latin typeface="Century Gothic" panose="020B0502020202020204" pitchFamily="34" charset="0"/>
            </a:endParaRPr>
          </a:p>
          <a:p>
            <a:pPr marL="0" indent="0" algn="ctr">
              <a:buNone/>
            </a:pPr>
            <a:r>
              <a:rPr lang="en-US" sz="1200" i="1" dirty="0">
                <a:solidFill>
                  <a:srgbClr val="1E5F8E"/>
                </a:solidFill>
                <a:latin typeface="Century Gothic" panose="020B0502020202020204" pitchFamily="34" charset="0"/>
                <a:ea typeface="Calibri" pitchFamily="34" charset="-122"/>
                <a:cs typeface="Calibri" pitchFamily="34" charset="-120"/>
              </a:rPr>
              <a:t>"Who was CEO</a:t>
            </a:r>
            <a:endParaRPr lang="en-US" sz="1200" dirty="0">
              <a:latin typeface="Century Gothic" panose="020B0502020202020204" pitchFamily="34" charset="0"/>
            </a:endParaRPr>
          </a:p>
          <a:p>
            <a:pPr marL="0" indent="0" algn="ctr">
              <a:buNone/>
            </a:pPr>
            <a:r>
              <a:rPr lang="en-US" sz="1200" i="1" dirty="0">
                <a:solidFill>
                  <a:srgbClr val="1E5F8E"/>
                </a:solidFill>
                <a:latin typeface="Century Gothic" panose="020B0502020202020204" pitchFamily="34" charset="0"/>
                <a:ea typeface="Calibri" pitchFamily="34" charset="-122"/>
                <a:cs typeface="Calibri" pitchFamily="34" charset="-120"/>
              </a:rPr>
              <a:t>of Apple</a:t>
            </a:r>
            <a:endParaRPr lang="en-US" sz="1200" dirty="0">
              <a:latin typeface="Century Gothic" panose="020B0502020202020204" pitchFamily="34" charset="0"/>
            </a:endParaRPr>
          </a:p>
          <a:p>
            <a:pPr marL="0" indent="0" algn="ctr">
              <a:buNone/>
            </a:pPr>
            <a:r>
              <a:rPr lang="en-US" sz="1200" i="1" dirty="0">
                <a:solidFill>
                  <a:srgbClr val="1E5F8E"/>
                </a:solidFill>
                <a:latin typeface="Century Gothic" panose="020B0502020202020204" pitchFamily="34" charset="0"/>
                <a:ea typeface="Calibri" pitchFamily="34" charset="-122"/>
                <a:cs typeface="Calibri" pitchFamily="34" charset="-120"/>
              </a:rPr>
              <a:t>in 2005?"</a:t>
            </a:r>
            <a:endParaRPr lang="en-US" sz="1200" dirty="0">
              <a:latin typeface="Century Gothic" panose="020B0502020202020204" pitchFamily="34" charset="0"/>
            </a:endParaRPr>
          </a:p>
        </p:txBody>
      </p:sp>
      <p:sp>
        <p:nvSpPr>
          <p:cNvPr id="14" name="Shape 12"/>
          <p:cNvSpPr/>
          <p:nvPr/>
        </p:nvSpPr>
        <p:spPr>
          <a:xfrm>
            <a:off x="3675888" y="1984248"/>
            <a:ext cx="54864" cy="45720"/>
          </a:xfrm>
          <a:prstGeom prst="rect">
            <a:avLst/>
          </a:prstGeom>
          <a:solidFill>
            <a:srgbClr val="64748B"/>
          </a:solidFill>
          <a:ln w="12700">
            <a:solidFill>
              <a:srgbClr val="64748B"/>
            </a:solidFill>
            <a:prstDash val="solid"/>
          </a:ln>
        </p:spPr>
        <p:txBody>
          <a:bodyPr/>
          <a:lstStyle/>
          <a:p>
            <a:endParaRPr lang="en-US">
              <a:latin typeface="Century Gothic" panose="020B0502020202020204" pitchFamily="34" charset="0"/>
            </a:endParaRPr>
          </a:p>
        </p:txBody>
      </p:sp>
      <p:sp>
        <p:nvSpPr>
          <p:cNvPr id="15" name="Shape 13"/>
          <p:cNvSpPr/>
          <p:nvPr/>
        </p:nvSpPr>
        <p:spPr>
          <a:xfrm>
            <a:off x="5687568" y="1998788"/>
            <a:ext cx="54864" cy="45720"/>
          </a:xfrm>
          <a:prstGeom prst="rect">
            <a:avLst/>
          </a:prstGeom>
          <a:solidFill>
            <a:srgbClr val="64748B"/>
          </a:solidFill>
          <a:ln w="12700">
            <a:solidFill>
              <a:srgbClr val="64748B"/>
            </a:solidFill>
            <a:prstDash val="solid"/>
          </a:ln>
        </p:spPr>
        <p:txBody>
          <a:bodyPr/>
          <a:lstStyle/>
          <a:p>
            <a:endParaRPr lang="en-US">
              <a:latin typeface="Century Gothic" panose="020B0502020202020204" pitchFamily="34" charset="0"/>
            </a:endParaRPr>
          </a:p>
        </p:txBody>
      </p:sp>
      <p:sp>
        <p:nvSpPr>
          <p:cNvPr id="16" name="Text 14"/>
          <p:cNvSpPr/>
          <p:nvPr/>
        </p:nvSpPr>
        <p:spPr>
          <a:xfrm>
            <a:off x="6172200" y="867031"/>
            <a:ext cx="2468880" cy="274320"/>
          </a:xfrm>
          <a:prstGeom prst="rect">
            <a:avLst/>
          </a:prstGeom>
          <a:noFill/>
          <a:ln/>
        </p:spPr>
        <p:txBody>
          <a:bodyPr wrap="square" lIns="0" tIns="0" rIns="0" bIns="0" rtlCol="0" anchor="ctr"/>
          <a:lstStyle/>
          <a:p>
            <a:pPr marL="0" indent="0">
              <a:buNone/>
            </a:pPr>
            <a:r>
              <a:rPr lang="en-US" sz="1200" b="1" dirty="0">
                <a:solidFill>
                  <a:schemeClr val="bg1"/>
                </a:solidFill>
                <a:latin typeface="Century Gothic" panose="020B0502020202020204" pitchFamily="34" charset="0"/>
                <a:ea typeface="Calibri" pitchFamily="34" charset="-122"/>
                <a:cs typeface="Calibri" pitchFamily="34" charset="-120"/>
              </a:rPr>
              <a:t>System response:</a:t>
            </a:r>
            <a:endParaRPr lang="en-US" sz="1200" dirty="0">
              <a:solidFill>
                <a:schemeClr val="bg1"/>
              </a:solidFill>
              <a:latin typeface="Century Gothic" panose="020B0502020202020204" pitchFamily="34" charset="0"/>
            </a:endParaRPr>
          </a:p>
        </p:txBody>
      </p:sp>
      <p:sp>
        <p:nvSpPr>
          <p:cNvPr id="17" name="Shape 15"/>
          <p:cNvSpPr/>
          <p:nvPr/>
        </p:nvSpPr>
        <p:spPr>
          <a:xfrm>
            <a:off x="6172200" y="1187071"/>
            <a:ext cx="2468880" cy="1737360"/>
          </a:xfrm>
          <a:prstGeom prst="rect">
            <a:avLst/>
          </a:prstGeom>
          <a:solidFill>
            <a:srgbClr val="FFF1F2"/>
          </a:solidFill>
          <a:ln w="19050">
            <a:solidFill>
              <a:srgbClr val="FECDD3"/>
            </a:solidFill>
            <a:prstDash val="solid"/>
          </a:ln>
          <a:effectLst>
            <a:outerShdw blurRad="63500" dist="12700" dir="8100000" algn="bl" rotWithShape="0">
              <a:srgbClr val="000000">
                <a:alpha val="7000"/>
              </a:srgbClr>
            </a:outerShdw>
          </a:effectLst>
        </p:spPr>
        <p:txBody>
          <a:bodyPr/>
          <a:lstStyle/>
          <a:p>
            <a:endParaRPr lang="en-US">
              <a:latin typeface="Century Gothic" panose="020B0502020202020204" pitchFamily="34" charset="0"/>
            </a:endParaRPr>
          </a:p>
        </p:txBody>
      </p:sp>
      <p:sp>
        <p:nvSpPr>
          <p:cNvPr id="18" name="Text 16"/>
          <p:cNvSpPr/>
          <p:nvPr/>
        </p:nvSpPr>
        <p:spPr>
          <a:xfrm>
            <a:off x="6172200" y="1187071"/>
            <a:ext cx="2468880" cy="1737360"/>
          </a:xfrm>
          <a:prstGeom prst="rect">
            <a:avLst/>
          </a:prstGeom>
          <a:noFill/>
          <a:ln/>
        </p:spPr>
        <p:txBody>
          <a:bodyPr wrap="square" lIns="101600" tIns="101600" rIns="101600" bIns="101600" rtlCol="0" anchor="ctr"/>
          <a:lstStyle/>
          <a:p>
            <a:pPr marL="0" indent="0" algn="ctr">
              <a:buNone/>
            </a:pPr>
            <a:r>
              <a:rPr lang="en-US" sz="1300" dirty="0">
                <a:solidFill>
                  <a:srgbClr val="1E293B"/>
                </a:solidFill>
                <a:latin typeface="Century Gothic" panose="020B0502020202020204" pitchFamily="34" charset="0"/>
                <a:ea typeface="Calibri" pitchFamily="34" charset="-122"/>
                <a:cs typeface="Calibri" pitchFamily="34" charset="-120"/>
              </a:rPr>
              <a:t>Retrieves both facts</a:t>
            </a:r>
            <a:endParaRPr lang="en-US" sz="1300" dirty="0">
              <a:latin typeface="Century Gothic" panose="020B0502020202020204" pitchFamily="34" charset="0"/>
            </a:endParaRPr>
          </a:p>
          <a:p>
            <a:pPr marL="0" indent="0" algn="ctr">
              <a:buNone/>
            </a:pPr>
            <a:r>
              <a:rPr lang="en-US" sz="1300" dirty="0">
                <a:solidFill>
                  <a:srgbClr val="64748B"/>
                </a:solidFill>
                <a:latin typeface="Century Gothic" panose="020B0502020202020204" pitchFamily="34" charset="0"/>
                <a:ea typeface="Calibri" pitchFamily="34" charset="-122"/>
                <a:cs typeface="Calibri" pitchFamily="34" charset="-120"/>
              </a:rPr>
              <a:t>↓</a:t>
            </a:r>
            <a:endParaRPr lang="en-US" sz="1300" dirty="0">
              <a:latin typeface="Century Gothic" panose="020B0502020202020204" pitchFamily="34" charset="0"/>
            </a:endParaRPr>
          </a:p>
          <a:p>
            <a:pPr marL="0" indent="0" algn="ctr">
              <a:buNone/>
            </a:pPr>
            <a:r>
              <a:rPr lang="en-US" sz="1300" b="1" dirty="0">
                <a:solidFill>
                  <a:srgbClr val="DC2626"/>
                </a:solidFill>
                <a:latin typeface="Century Gothic" panose="020B0502020202020204" pitchFamily="34" charset="0"/>
                <a:ea typeface="Calibri" pitchFamily="34" charset="-122"/>
                <a:cs typeface="Calibri" pitchFamily="34" charset="-120"/>
              </a:rPr>
              <a:t>CONFLICT</a:t>
            </a:r>
            <a:endParaRPr lang="en-US" sz="1300" dirty="0">
              <a:latin typeface="Century Gothic" panose="020B0502020202020204" pitchFamily="34" charset="0"/>
            </a:endParaRPr>
          </a:p>
          <a:p>
            <a:pPr marL="0" indent="0" algn="ctr">
              <a:buNone/>
            </a:pPr>
            <a:r>
              <a:rPr lang="en-US" sz="1300" dirty="0">
                <a:solidFill>
                  <a:srgbClr val="64748B"/>
                </a:solidFill>
                <a:latin typeface="Century Gothic" panose="020B0502020202020204" pitchFamily="34" charset="0"/>
                <a:ea typeface="Calibri" pitchFamily="34" charset="-122"/>
                <a:cs typeface="Calibri" pitchFamily="34" charset="-120"/>
              </a:rPr>
              <a:t>No way to decide</a:t>
            </a:r>
            <a:endParaRPr lang="en-US" sz="1300" dirty="0">
              <a:latin typeface="Century Gothic" panose="020B0502020202020204" pitchFamily="34" charset="0"/>
            </a:endParaRPr>
          </a:p>
          <a:p>
            <a:pPr marL="0" indent="0" algn="ctr">
              <a:buNone/>
            </a:pPr>
            <a:r>
              <a:rPr lang="en-US" sz="1300" dirty="0">
                <a:solidFill>
                  <a:srgbClr val="64748B"/>
                </a:solidFill>
                <a:latin typeface="Century Gothic" panose="020B0502020202020204" pitchFamily="34" charset="0"/>
                <a:ea typeface="Calibri" pitchFamily="34" charset="-122"/>
                <a:cs typeface="Calibri" pitchFamily="34" charset="-120"/>
              </a:rPr>
              <a:t>↓</a:t>
            </a:r>
            <a:endParaRPr lang="en-US" sz="1300" dirty="0">
              <a:latin typeface="Century Gothic" panose="020B0502020202020204" pitchFamily="34" charset="0"/>
            </a:endParaRPr>
          </a:p>
          <a:p>
            <a:pPr marL="0" indent="0" algn="ctr">
              <a:buNone/>
            </a:pPr>
            <a:r>
              <a:rPr lang="en-US" sz="1300" b="1" dirty="0">
                <a:solidFill>
                  <a:srgbClr val="DC2626"/>
                </a:solidFill>
                <a:latin typeface="Century Gothic" panose="020B0502020202020204" pitchFamily="34" charset="0"/>
                <a:ea typeface="Calibri" pitchFamily="34" charset="-122"/>
                <a:cs typeface="Calibri" pitchFamily="34" charset="-120"/>
              </a:rPr>
              <a:t>✗  Hallucinates</a:t>
            </a:r>
            <a:endParaRPr lang="en-US" sz="1300" dirty="0">
              <a:latin typeface="Century Gothic" panose="020B0502020202020204" pitchFamily="34" charset="0"/>
            </a:endParaRPr>
          </a:p>
        </p:txBody>
      </p:sp>
      <p:sp>
        <p:nvSpPr>
          <p:cNvPr id="21" name="Text 19"/>
          <p:cNvSpPr/>
          <p:nvPr/>
        </p:nvSpPr>
        <p:spPr>
          <a:xfrm>
            <a:off x="457200" y="4025009"/>
            <a:ext cx="8491178" cy="640080"/>
          </a:xfrm>
          <a:prstGeom prst="rect">
            <a:avLst/>
          </a:prstGeom>
          <a:noFill/>
          <a:ln/>
        </p:spPr>
        <p:txBody>
          <a:bodyPr wrap="square" lIns="0" tIns="0" rIns="0" bIns="0" rtlCol="0" anchor="ctr"/>
          <a:lstStyle/>
          <a:p>
            <a:pPr marL="0" indent="0" algn="ctr">
              <a:buNone/>
            </a:pPr>
            <a:r>
              <a:rPr lang="en-US" sz="1400" b="1" dirty="0">
                <a:solidFill>
                  <a:schemeClr val="bg1"/>
                </a:solidFill>
                <a:latin typeface="Century Gothic" panose="020B0502020202020204" pitchFamily="34" charset="0"/>
                <a:ea typeface="Calibri" pitchFamily="34" charset="-122"/>
                <a:cs typeface="Calibri" pitchFamily="34" charset="-120"/>
              </a:rPr>
              <a:t>Key observation: KG triples are stored as timeless facts. the retriever has no mechanism to resolve which is valid at query time.</a:t>
            </a:r>
            <a:endParaRPr lang="en-US" sz="1400" b="1" dirty="0">
              <a:solidFill>
                <a:schemeClr val="bg1"/>
              </a:solidFill>
              <a:latin typeface="Century Gothic" panose="020B0502020202020204" pitchFamily="34" charset="0"/>
            </a:endParaRPr>
          </a:p>
        </p:txBody>
      </p:sp>
      <p:sp>
        <p:nvSpPr>
          <p:cNvPr id="22" name="Text 20"/>
          <p:cNvSpPr/>
          <p:nvPr/>
        </p:nvSpPr>
        <p:spPr>
          <a:xfrm>
            <a:off x="8412480" y="4864608"/>
            <a:ext cx="640080" cy="201168"/>
          </a:xfrm>
          <a:prstGeom prst="rect">
            <a:avLst/>
          </a:prstGeom>
          <a:noFill/>
          <a:ln/>
        </p:spPr>
        <p:txBody>
          <a:bodyPr wrap="square" lIns="0" tIns="0" rIns="0" bIns="0" rtlCol="0" anchor="ctr"/>
          <a:lstStyle/>
          <a:p>
            <a:pPr marL="0" indent="0" algn="r">
              <a:buNone/>
            </a:pPr>
            <a:r>
              <a:rPr lang="en-US" sz="900" dirty="0">
                <a:solidFill>
                  <a:srgbClr val="AAAAAA"/>
                </a:solidFill>
                <a:latin typeface="Century Gothic" panose="020B0502020202020204" pitchFamily="34" charset="0"/>
              </a:rPr>
              <a:t>2 / 7</a:t>
            </a:r>
            <a:endParaRPr lang="en-US" sz="900" dirty="0">
              <a:latin typeface="Century Gothic" panose="020B0502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BCD"/>
          </a:solidFill>
          <a:ln w="12700">
            <a:solidFill>
              <a:srgbClr val="3D8BCD"/>
            </a:solidFill>
            <a:prstDash val="solid"/>
          </a:ln>
        </p:spPr>
        <p:txBody>
          <a:bodyPr/>
          <a:lstStyle/>
          <a:p>
            <a:endParaRPr lang="en-US" sz="1600">
              <a:latin typeface="Century Gothic" panose="020B0502020202020204" pitchFamily="34" charset="0"/>
            </a:endParaRPr>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3200" b="1" dirty="0">
                <a:solidFill>
                  <a:srgbClr val="1E293B"/>
                </a:solidFill>
                <a:latin typeface="Century Gothic" panose="020B0502020202020204" pitchFamily="34" charset="0"/>
                <a:ea typeface="Calibri" pitchFamily="34" charset="-122"/>
                <a:cs typeface="Calibri" pitchFamily="34" charset="-120"/>
              </a:rPr>
              <a:t>Why It Matters</a:t>
            </a:r>
            <a:endParaRPr lang="en-US" sz="3200" dirty="0">
              <a:latin typeface="Century Gothic" panose="020B0502020202020204" pitchFamily="34" charset="0"/>
            </a:endParaRPr>
          </a:p>
        </p:txBody>
      </p:sp>
      <p:sp>
        <p:nvSpPr>
          <p:cNvPr id="4" name="Shape 2"/>
          <p:cNvSpPr/>
          <p:nvPr/>
        </p:nvSpPr>
        <p:spPr>
          <a:xfrm>
            <a:off x="365760" y="914400"/>
            <a:ext cx="2651760" cy="182880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sz="1600">
              <a:latin typeface="Century Gothic" panose="020B0502020202020204" pitchFamily="34" charset="0"/>
            </a:endParaRPr>
          </a:p>
        </p:txBody>
      </p:sp>
      <p:sp>
        <p:nvSpPr>
          <p:cNvPr id="5" name="Shape 3"/>
          <p:cNvSpPr/>
          <p:nvPr/>
        </p:nvSpPr>
        <p:spPr>
          <a:xfrm>
            <a:off x="365760" y="914400"/>
            <a:ext cx="2651760" cy="54864"/>
          </a:xfrm>
          <a:prstGeom prst="rect">
            <a:avLst/>
          </a:prstGeom>
          <a:solidFill>
            <a:srgbClr val="3D8BCD"/>
          </a:solidFill>
          <a:ln w="12700">
            <a:solidFill>
              <a:srgbClr val="3D8BCD"/>
            </a:solidFill>
            <a:prstDash val="solid"/>
          </a:ln>
        </p:spPr>
        <p:txBody>
          <a:bodyPr/>
          <a:lstStyle/>
          <a:p>
            <a:endParaRPr lang="en-US" sz="1600">
              <a:latin typeface="Century Gothic" panose="020B0502020202020204" pitchFamily="34" charset="0"/>
            </a:endParaRPr>
          </a:p>
        </p:txBody>
      </p:sp>
      <p:sp>
        <p:nvSpPr>
          <p:cNvPr id="6" name="Text 4"/>
          <p:cNvSpPr/>
          <p:nvPr/>
        </p:nvSpPr>
        <p:spPr>
          <a:xfrm>
            <a:off x="365760" y="1005840"/>
            <a:ext cx="2651760" cy="685800"/>
          </a:xfrm>
          <a:prstGeom prst="rect">
            <a:avLst/>
          </a:prstGeom>
          <a:noFill/>
          <a:ln/>
        </p:spPr>
        <p:txBody>
          <a:bodyPr wrap="square" lIns="0" tIns="0" rIns="0" bIns="0" rtlCol="0" anchor="ctr"/>
          <a:lstStyle/>
          <a:p>
            <a:pPr marL="0" indent="0" algn="ctr">
              <a:buNone/>
            </a:pPr>
            <a:r>
              <a:rPr lang="en-US" sz="4000" b="1" dirty="0">
                <a:solidFill>
                  <a:srgbClr val="3D8BCD"/>
                </a:solidFill>
                <a:latin typeface="Century Gothic" panose="020B0502020202020204" pitchFamily="34" charset="0"/>
                <a:ea typeface="Calibri" pitchFamily="34" charset="-122"/>
                <a:cs typeface="Calibri" pitchFamily="34" charset="-120"/>
              </a:rPr>
              <a:t>35.0%</a:t>
            </a:r>
            <a:endParaRPr lang="en-US" sz="4000" dirty="0">
              <a:latin typeface="Century Gothic" panose="020B0502020202020204" pitchFamily="34" charset="0"/>
            </a:endParaRPr>
          </a:p>
        </p:txBody>
      </p:sp>
      <p:sp>
        <p:nvSpPr>
          <p:cNvPr id="7" name="Text 5"/>
          <p:cNvSpPr/>
          <p:nvPr/>
        </p:nvSpPr>
        <p:spPr>
          <a:xfrm>
            <a:off x="457200" y="1737360"/>
            <a:ext cx="2468880" cy="777240"/>
          </a:xfrm>
          <a:prstGeom prst="rect">
            <a:avLst/>
          </a:prstGeom>
          <a:noFill/>
          <a:ln/>
        </p:spPr>
        <p:txBody>
          <a:bodyPr wrap="square" lIns="0" tIns="0" rIns="0" bIns="0" rtlCol="0" anchor="ctr"/>
          <a:lstStyle/>
          <a:p>
            <a:pPr marL="0" indent="0" algn="ctr">
              <a:buNone/>
            </a:pPr>
            <a:r>
              <a:rPr lang="en-US" sz="1100" dirty="0">
                <a:solidFill>
                  <a:srgbClr val="64748B"/>
                </a:solidFill>
                <a:latin typeface="Century Gothic" panose="020B0502020202020204" pitchFamily="34" charset="0"/>
                <a:ea typeface="Calibri" pitchFamily="34" charset="-122"/>
                <a:cs typeface="Calibri" pitchFamily="34" charset="-120"/>
              </a:rPr>
              <a:t>HotpotQA questions</a:t>
            </a:r>
            <a:endParaRPr lang="en-US" sz="1100" dirty="0">
              <a:latin typeface="Century Gothic" panose="020B0502020202020204" pitchFamily="34" charset="0"/>
            </a:endParaRPr>
          </a:p>
          <a:p>
            <a:pPr marL="0" indent="0" algn="ctr">
              <a:buNone/>
            </a:pPr>
            <a:r>
              <a:rPr lang="en-US" sz="1100" dirty="0">
                <a:solidFill>
                  <a:srgbClr val="64748B"/>
                </a:solidFill>
                <a:latin typeface="Century Gothic" panose="020B0502020202020204" pitchFamily="34" charset="0"/>
                <a:ea typeface="Calibri" pitchFamily="34" charset="-122"/>
                <a:cs typeface="Calibri" pitchFamily="34" charset="-120"/>
              </a:rPr>
              <a:t>have temporal expressions</a:t>
            </a:r>
            <a:endParaRPr lang="en-US" sz="1100" dirty="0">
              <a:latin typeface="Century Gothic" panose="020B0502020202020204" pitchFamily="34" charset="0"/>
            </a:endParaRPr>
          </a:p>
        </p:txBody>
      </p:sp>
      <p:sp>
        <p:nvSpPr>
          <p:cNvPr id="8" name="Shape 6"/>
          <p:cNvSpPr/>
          <p:nvPr/>
        </p:nvSpPr>
        <p:spPr>
          <a:xfrm>
            <a:off x="3246120" y="914400"/>
            <a:ext cx="2651760" cy="182880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sz="1600">
              <a:latin typeface="Century Gothic" panose="020B0502020202020204" pitchFamily="34" charset="0"/>
            </a:endParaRPr>
          </a:p>
        </p:txBody>
      </p:sp>
      <p:sp>
        <p:nvSpPr>
          <p:cNvPr id="9" name="Shape 7"/>
          <p:cNvSpPr/>
          <p:nvPr/>
        </p:nvSpPr>
        <p:spPr>
          <a:xfrm>
            <a:off x="3246120" y="914400"/>
            <a:ext cx="2651760" cy="54864"/>
          </a:xfrm>
          <a:prstGeom prst="rect">
            <a:avLst/>
          </a:prstGeom>
          <a:solidFill>
            <a:srgbClr val="3D8BCD"/>
          </a:solidFill>
          <a:ln w="12700">
            <a:solidFill>
              <a:srgbClr val="3D8BCD"/>
            </a:solidFill>
            <a:prstDash val="solid"/>
          </a:ln>
        </p:spPr>
        <p:txBody>
          <a:bodyPr/>
          <a:lstStyle/>
          <a:p>
            <a:endParaRPr lang="en-US" sz="1600">
              <a:latin typeface="Century Gothic" panose="020B0502020202020204" pitchFamily="34" charset="0"/>
            </a:endParaRPr>
          </a:p>
        </p:txBody>
      </p:sp>
      <p:sp>
        <p:nvSpPr>
          <p:cNvPr id="10" name="Text 8"/>
          <p:cNvSpPr/>
          <p:nvPr/>
        </p:nvSpPr>
        <p:spPr>
          <a:xfrm>
            <a:off x="3246120" y="1005840"/>
            <a:ext cx="2651760" cy="685800"/>
          </a:xfrm>
          <a:prstGeom prst="rect">
            <a:avLst/>
          </a:prstGeom>
          <a:noFill/>
          <a:ln/>
        </p:spPr>
        <p:txBody>
          <a:bodyPr wrap="square" lIns="0" tIns="0" rIns="0" bIns="0" rtlCol="0" anchor="ctr"/>
          <a:lstStyle/>
          <a:p>
            <a:pPr marL="0" indent="0" algn="ctr">
              <a:buNone/>
            </a:pPr>
            <a:r>
              <a:rPr lang="en-US" sz="4000" b="1" dirty="0">
                <a:solidFill>
                  <a:srgbClr val="3D8BCD"/>
                </a:solidFill>
                <a:latin typeface="Century Gothic" panose="020B0502020202020204" pitchFamily="34" charset="0"/>
                <a:ea typeface="Calibri" pitchFamily="34" charset="-122"/>
                <a:cs typeface="Calibri" pitchFamily="34" charset="-120"/>
              </a:rPr>
              <a:t>38.3%</a:t>
            </a:r>
            <a:endParaRPr lang="en-US" sz="4000" dirty="0">
              <a:latin typeface="Century Gothic" panose="020B0502020202020204" pitchFamily="34" charset="0"/>
            </a:endParaRPr>
          </a:p>
        </p:txBody>
      </p:sp>
      <p:sp>
        <p:nvSpPr>
          <p:cNvPr id="11" name="Text 9"/>
          <p:cNvSpPr/>
          <p:nvPr/>
        </p:nvSpPr>
        <p:spPr>
          <a:xfrm>
            <a:off x="3337560" y="1737360"/>
            <a:ext cx="2468880" cy="777240"/>
          </a:xfrm>
          <a:prstGeom prst="rect">
            <a:avLst/>
          </a:prstGeom>
          <a:noFill/>
          <a:ln/>
        </p:spPr>
        <p:txBody>
          <a:bodyPr wrap="square" lIns="0" tIns="0" rIns="0" bIns="0" rtlCol="0" anchor="ctr"/>
          <a:lstStyle/>
          <a:p>
            <a:pPr marL="0" indent="0" algn="ctr">
              <a:buNone/>
            </a:pPr>
            <a:r>
              <a:rPr lang="en-US" sz="1100" dirty="0">
                <a:solidFill>
                  <a:srgbClr val="64748B"/>
                </a:solidFill>
                <a:latin typeface="Century Gothic" panose="020B0502020202020204" pitchFamily="34" charset="0"/>
                <a:ea typeface="Calibri" pitchFamily="34" charset="-122"/>
                <a:cs typeface="Calibri" pitchFamily="34" charset="-120"/>
              </a:rPr>
              <a:t>MuSiQue questions</a:t>
            </a:r>
            <a:endParaRPr lang="en-US" sz="1100" dirty="0">
              <a:latin typeface="Century Gothic" panose="020B0502020202020204" pitchFamily="34" charset="0"/>
            </a:endParaRPr>
          </a:p>
          <a:p>
            <a:pPr marL="0" indent="0" algn="ctr">
              <a:buNone/>
            </a:pPr>
            <a:r>
              <a:rPr lang="en-US" sz="1100" dirty="0">
                <a:solidFill>
                  <a:srgbClr val="64748B"/>
                </a:solidFill>
                <a:latin typeface="Century Gothic" panose="020B0502020202020204" pitchFamily="34" charset="0"/>
                <a:ea typeface="Calibri" pitchFamily="34" charset="-122"/>
                <a:cs typeface="Calibri" pitchFamily="34" charset="-120"/>
              </a:rPr>
              <a:t>have temporal expressions</a:t>
            </a:r>
            <a:endParaRPr lang="en-US" sz="1100" dirty="0">
              <a:latin typeface="Century Gothic" panose="020B0502020202020204" pitchFamily="34" charset="0"/>
            </a:endParaRPr>
          </a:p>
        </p:txBody>
      </p:sp>
      <p:sp>
        <p:nvSpPr>
          <p:cNvPr id="12" name="Shape 10"/>
          <p:cNvSpPr/>
          <p:nvPr/>
        </p:nvSpPr>
        <p:spPr>
          <a:xfrm>
            <a:off x="6126480" y="914400"/>
            <a:ext cx="2651760" cy="182880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sz="1600">
              <a:latin typeface="Century Gothic" panose="020B0502020202020204" pitchFamily="34" charset="0"/>
            </a:endParaRPr>
          </a:p>
        </p:txBody>
      </p:sp>
      <p:sp>
        <p:nvSpPr>
          <p:cNvPr id="13" name="Shape 11"/>
          <p:cNvSpPr/>
          <p:nvPr/>
        </p:nvSpPr>
        <p:spPr>
          <a:xfrm>
            <a:off x="6126480" y="914400"/>
            <a:ext cx="2651760" cy="54864"/>
          </a:xfrm>
          <a:prstGeom prst="rect">
            <a:avLst/>
          </a:prstGeom>
          <a:solidFill>
            <a:srgbClr val="3D8BCD"/>
          </a:solidFill>
          <a:ln w="12700">
            <a:solidFill>
              <a:srgbClr val="3D8BCD"/>
            </a:solidFill>
            <a:prstDash val="solid"/>
          </a:ln>
        </p:spPr>
        <p:txBody>
          <a:bodyPr/>
          <a:lstStyle/>
          <a:p>
            <a:endParaRPr lang="en-US" sz="1600">
              <a:latin typeface="Century Gothic" panose="020B0502020202020204" pitchFamily="34" charset="0"/>
            </a:endParaRPr>
          </a:p>
        </p:txBody>
      </p:sp>
      <p:sp>
        <p:nvSpPr>
          <p:cNvPr id="14" name="Text 12"/>
          <p:cNvSpPr/>
          <p:nvPr/>
        </p:nvSpPr>
        <p:spPr>
          <a:xfrm>
            <a:off x="6126480" y="1005840"/>
            <a:ext cx="2651760" cy="685800"/>
          </a:xfrm>
          <a:prstGeom prst="rect">
            <a:avLst/>
          </a:prstGeom>
          <a:noFill/>
          <a:ln/>
        </p:spPr>
        <p:txBody>
          <a:bodyPr wrap="square" lIns="0" tIns="0" rIns="0" bIns="0" rtlCol="0" anchor="ctr"/>
          <a:lstStyle/>
          <a:p>
            <a:pPr marL="0" indent="0" algn="ctr">
              <a:buNone/>
            </a:pPr>
            <a:r>
              <a:rPr lang="en-US" sz="4000" b="1" dirty="0">
                <a:solidFill>
                  <a:srgbClr val="3D8BCD"/>
                </a:solidFill>
                <a:latin typeface="Century Gothic" panose="020B0502020202020204" pitchFamily="34" charset="0"/>
                <a:ea typeface="Calibri" pitchFamily="34" charset="-122"/>
                <a:cs typeface="Calibri" pitchFamily="34" charset="-120"/>
              </a:rPr>
              <a:t>46.7%</a:t>
            </a:r>
            <a:endParaRPr lang="en-US" sz="4000" dirty="0">
              <a:latin typeface="Century Gothic" panose="020B0502020202020204" pitchFamily="34" charset="0"/>
            </a:endParaRPr>
          </a:p>
        </p:txBody>
      </p:sp>
      <p:sp>
        <p:nvSpPr>
          <p:cNvPr id="15" name="Text 13"/>
          <p:cNvSpPr/>
          <p:nvPr/>
        </p:nvSpPr>
        <p:spPr>
          <a:xfrm>
            <a:off x="6217920" y="1737360"/>
            <a:ext cx="2468880" cy="777240"/>
          </a:xfrm>
          <a:prstGeom prst="rect">
            <a:avLst/>
          </a:prstGeom>
          <a:noFill/>
          <a:ln/>
        </p:spPr>
        <p:txBody>
          <a:bodyPr wrap="square" lIns="0" tIns="0" rIns="0" bIns="0" rtlCol="0" anchor="ctr"/>
          <a:lstStyle/>
          <a:p>
            <a:pPr marL="0" indent="0" algn="ctr">
              <a:buNone/>
            </a:pPr>
            <a:r>
              <a:rPr lang="en-US" sz="1100" dirty="0">
                <a:solidFill>
                  <a:srgbClr val="64748B"/>
                </a:solidFill>
                <a:latin typeface="Century Gothic" panose="020B0502020202020204" pitchFamily="34" charset="0"/>
                <a:ea typeface="Calibri" pitchFamily="34" charset="-122"/>
                <a:cs typeface="Calibri" pitchFamily="34" charset="-120"/>
              </a:rPr>
              <a:t>in 4-hop questions</a:t>
            </a:r>
            <a:endParaRPr lang="en-US" sz="1100" dirty="0">
              <a:latin typeface="Century Gothic" panose="020B0502020202020204" pitchFamily="34" charset="0"/>
            </a:endParaRPr>
          </a:p>
          <a:p>
            <a:pPr marL="0" indent="0" algn="ctr">
              <a:buNone/>
            </a:pPr>
            <a:r>
              <a:rPr lang="en-US" sz="1100" dirty="0">
                <a:solidFill>
                  <a:srgbClr val="64748B"/>
                </a:solidFill>
                <a:latin typeface="Century Gothic" panose="020B0502020202020204" pitchFamily="34" charset="0"/>
                <a:ea typeface="Calibri" pitchFamily="34" charset="-122"/>
                <a:cs typeface="Calibri" pitchFamily="34" charset="-120"/>
              </a:rPr>
              <a:t>↑ harder = more temporal</a:t>
            </a:r>
            <a:endParaRPr lang="en-US" sz="1100" dirty="0">
              <a:latin typeface="Century Gothic" panose="020B0502020202020204" pitchFamily="34" charset="0"/>
            </a:endParaRPr>
          </a:p>
        </p:txBody>
      </p:sp>
      <p:sp>
        <p:nvSpPr>
          <p:cNvPr id="16" name="Shape 14"/>
          <p:cNvSpPr/>
          <p:nvPr/>
        </p:nvSpPr>
        <p:spPr>
          <a:xfrm>
            <a:off x="365760" y="2880360"/>
            <a:ext cx="8412480" cy="36576"/>
          </a:xfrm>
          <a:prstGeom prst="rect">
            <a:avLst/>
          </a:prstGeom>
          <a:solidFill>
            <a:srgbClr val="D1D5DB"/>
          </a:solidFill>
          <a:ln w="12700">
            <a:solidFill>
              <a:srgbClr val="D1D5DB"/>
            </a:solidFill>
            <a:prstDash val="solid"/>
          </a:ln>
        </p:spPr>
        <p:txBody>
          <a:bodyPr/>
          <a:lstStyle/>
          <a:p>
            <a:endParaRPr lang="en-US" sz="1600">
              <a:latin typeface="Century Gothic" panose="020B0502020202020204" pitchFamily="34" charset="0"/>
            </a:endParaRPr>
          </a:p>
        </p:txBody>
      </p:sp>
      <p:sp>
        <p:nvSpPr>
          <p:cNvPr id="17" name="Text 15"/>
          <p:cNvSpPr/>
          <p:nvPr/>
        </p:nvSpPr>
        <p:spPr>
          <a:xfrm>
            <a:off x="457200" y="2999232"/>
            <a:ext cx="8229600" cy="347472"/>
          </a:xfrm>
          <a:prstGeom prst="rect">
            <a:avLst/>
          </a:prstGeom>
          <a:noFill/>
          <a:ln/>
        </p:spPr>
        <p:txBody>
          <a:bodyPr wrap="square" lIns="0" tIns="0" rIns="0" bIns="0" rtlCol="0" anchor="ctr"/>
          <a:lstStyle/>
          <a:p>
            <a:pPr marL="0" indent="0">
              <a:buNone/>
            </a:pPr>
            <a:r>
              <a:rPr lang="en-US" sz="1600" b="1" dirty="0">
                <a:solidFill>
                  <a:srgbClr val="1E5F8E"/>
                </a:solidFill>
                <a:latin typeface="Century Gothic" panose="020B0502020202020204" pitchFamily="34" charset="0"/>
                <a:ea typeface="Calibri" pitchFamily="34" charset="-122"/>
                <a:cs typeface="Calibri" pitchFamily="34" charset="-120"/>
              </a:rPr>
              <a:t>The Research Gap</a:t>
            </a:r>
            <a:endParaRPr lang="en-US" sz="1600" dirty="0">
              <a:latin typeface="Century Gothic" panose="020B0502020202020204" pitchFamily="34" charset="0"/>
            </a:endParaRPr>
          </a:p>
        </p:txBody>
      </p:sp>
      <p:sp>
        <p:nvSpPr>
          <p:cNvPr id="18" name="Text 16"/>
          <p:cNvSpPr/>
          <p:nvPr/>
        </p:nvSpPr>
        <p:spPr>
          <a:xfrm>
            <a:off x="457200" y="3383280"/>
            <a:ext cx="8229600" cy="457200"/>
          </a:xfrm>
          <a:prstGeom prst="rect">
            <a:avLst/>
          </a:prstGeom>
          <a:noFill/>
          <a:ln/>
        </p:spPr>
        <p:txBody>
          <a:bodyPr wrap="square" lIns="0" tIns="0" rIns="0" bIns="0" rtlCol="0" anchor="ctr"/>
          <a:lstStyle/>
          <a:p>
            <a:pPr marL="0" indent="0">
              <a:buNone/>
            </a:pPr>
            <a:r>
              <a:rPr lang="en-US" sz="1400" b="1" dirty="0">
                <a:solidFill>
                  <a:srgbClr val="1E293B"/>
                </a:solidFill>
                <a:latin typeface="Century Gothic" panose="020B0502020202020204" pitchFamily="34" charset="0"/>
                <a:ea typeface="Calibri" pitchFamily="34" charset="-122"/>
                <a:cs typeface="Calibri" pitchFamily="34" charset="-120"/>
              </a:rPr>
              <a:t>No existing KG-RAG system</a:t>
            </a:r>
            <a:r>
              <a:rPr lang="en-US" sz="1400" dirty="0">
                <a:solidFill>
                  <a:srgbClr val="1E293B"/>
                </a:solidFill>
                <a:latin typeface="Century Gothic" panose="020B0502020202020204" pitchFamily="34" charset="0"/>
                <a:ea typeface="Calibri" pitchFamily="34" charset="-122"/>
                <a:cs typeface="Calibri" pitchFamily="34" charset="-120"/>
              </a:rPr>
              <a:t> — including KG²RAG, GEAR, GraphRAG, or GoG — attaches temporal validity to KG triples</a:t>
            </a:r>
            <a:r>
              <a:rPr lang="en-US" sz="1400" b="1" dirty="0">
                <a:solidFill>
                  <a:srgbClr val="1E293B"/>
                </a:solidFill>
                <a:latin typeface="Century Gothic" panose="020B0502020202020204" pitchFamily="34" charset="0"/>
                <a:ea typeface="Calibri" pitchFamily="34" charset="-122"/>
                <a:cs typeface="Calibri" pitchFamily="34" charset="-120"/>
              </a:rPr>
              <a:t> or filters stale facts by time.</a:t>
            </a:r>
            <a:endParaRPr lang="en-US" sz="1400" dirty="0">
              <a:latin typeface="Century Gothic" panose="020B0502020202020204" pitchFamily="34" charset="0"/>
            </a:endParaRPr>
          </a:p>
        </p:txBody>
      </p:sp>
      <p:sp>
        <p:nvSpPr>
          <p:cNvPr id="19" name="Text 17"/>
          <p:cNvSpPr/>
          <p:nvPr/>
        </p:nvSpPr>
        <p:spPr>
          <a:xfrm>
            <a:off x="457200" y="3931920"/>
            <a:ext cx="8229600" cy="347472"/>
          </a:xfrm>
          <a:prstGeom prst="rect">
            <a:avLst/>
          </a:prstGeom>
          <a:noFill/>
          <a:ln/>
        </p:spPr>
        <p:txBody>
          <a:bodyPr wrap="square" lIns="0" tIns="0" rIns="0" bIns="0" rtlCol="0" anchor="ctr"/>
          <a:lstStyle/>
          <a:p>
            <a:pPr marL="0" indent="0">
              <a:buNone/>
            </a:pPr>
            <a:r>
              <a:rPr lang="en-US" sz="1200" i="1" dirty="0">
                <a:solidFill>
                  <a:srgbClr val="3D8BCD"/>
                </a:solidFill>
                <a:latin typeface="Century Gothic" panose="020B0502020202020204" pitchFamily="34" charset="0"/>
                <a:ea typeface="Calibri" pitchFamily="34" charset="-122"/>
                <a:cs typeface="Calibri" pitchFamily="34" charset="-120"/>
              </a:rPr>
              <a:t>TempoRAG-KG is the first framework to do this on general-domain unstructured text.</a:t>
            </a:r>
            <a:endParaRPr lang="en-US" sz="1200" dirty="0">
              <a:latin typeface="Century Gothic" panose="020B0502020202020204" pitchFamily="34" charset="0"/>
            </a:endParaRPr>
          </a:p>
        </p:txBody>
      </p:sp>
      <p:sp>
        <p:nvSpPr>
          <p:cNvPr id="20" name="Text 18"/>
          <p:cNvSpPr/>
          <p:nvPr/>
        </p:nvSpPr>
        <p:spPr>
          <a:xfrm>
            <a:off x="8412480" y="4864608"/>
            <a:ext cx="640080" cy="201168"/>
          </a:xfrm>
          <a:prstGeom prst="rect">
            <a:avLst/>
          </a:prstGeom>
          <a:noFill/>
          <a:ln/>
        </p:spPr>
        <p:txBody>
          <a:bodyPr wrap="square" lIns="0" tIns="0" rIns="0" bIns="0" rtlCol="0" anchor="ctr"/>
          <a:lstStyle/>
          <a:p>
            <a:pPr marL="0" indent="0" algn="r">
              <a:buNone/>
            </a:pPr>
            <a:r>
              <a:rPr lang="en-US" sz="800" dirty="0">
                <a:solidFill>
                  <a:srgbClr val="AAAAAA"/>
                </a:solidFill>
                <a:latin typeface="Century Gothic" panose="020B0502020202020204" pitchFamily="34" charset="0"/>
              </a:rPr>
              <a:t>3 / 7</a:t>
            </a:r>
            <a:endParaRPr lang="en-US" sz="800" dirty="0">
              <a:latin typeface="Century Gothic" panose="020B0502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BCD"/>
          </a:solidFill>
          <a:ln w="12700">
            <a:solidFill>
              <a:srgbClr val="3D8BCD"/>
            </a:solidFill>
            <a:prstDash val="solid"/>
          </a:ln>
        </p:spPr>
        <p:txBody>
          <a:bodyPr/>
          <a:lstStyle/>
          <a:p>
            <a:endParaRPr lang="en-US" sz="1400">
              <a:latin typeface="Century Gothic" panose="020B0502020202020204" pitchFamily="34" charset="0"/>
            </a:endParaRPr>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800" b="1" dirty="0">
                <a:solidFill>
                  <a:srgbClr val="1E293B"/>
                </a:solidFill>
                <a:latin typeface="Century Gothic" panose="020B0502020202020204" pitchFamily="34" charset="0"/>
                <a:ea typeface="Calibri" pitchFamily="34" charset="-122"/>
                <a:cs typeface="Calibri" pitchFamily="34" charset="-120"/>
              </a:rPr>
              <a:t>Our Solution: TempoRAG-KG</a:t>
            </a:r>
            <a:endParaRPr lang="en-US" sz="2800" dirty="0">
              <a:latin typeface="Century Gothic" panose="020B0502020202020204" pitchFamily="34" charset="0"/>
            </a:endParaRPr>
          </a:p>
        </p:txBody>
      </p:sp>
      <p:sp>
        <p:nvSpPr>
          <p:cNvPr id="4" name="Shape 2"/>
          <p:cNvSpPr/>
          <p:nvPr/>
        </p:nvSpPr>
        <p:spPr>
          <a:xfrm>
            <a:off x="457200" y="841248"/>
            <a:ext cx="73152" cy="960120"/>
          </a:xfrm>
          <a:prstGeom prst="rect">
            <a:avLst/>
          </a:prstGeom>
          <a:solidFill>
            <a:srgbClr val="3D8BCD"/>
          </a:solidFill>
          <a:ln w="12700">
            <a:solidFill>
              <a:srgbClr val="3D8BCD"/>
            </a:solidFill>
            <a:prstDash val="solid"/>
          </a:ln>
        </p:spPr>
        <p:txBody>
          <a:bodyPr/>
          <a:lstStyle/>
          <a:p>
            <a:endParaRPr lang="en-US" sz="1400">
              <a:latin typeface="Century Gothic" panose="020B0502020202020204" pitchFamily="34" charset="0"/>
            </a:endParaRPr>
          </a:p>
        </p:txBody>
      </p:sp>
      <p:sp>
        <p:nvSpPr>
          <p:cNvPr id="5" name="Shape 3"/>
          <p:cNvSpPr/>
          <p:nvPr/>
        </p:nvSpPr>
        <p:spPr>
          <a:xfrm>
            <a:off x="530352" y="841248"/>
            <a:ext cx="3767328" cy="96012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sz="1400">
              <a:latin typeface="Century Gothic" panose="020B0502020202020204" pitchFamily="34" charset="0"/>
            </a:endParaRPr>
          </a:p>
        </p:txBody>
      </p:sp>
      <p:sp>
        <p:nvSpPr>
          <p:cNvPr id="6" name="Text 4"/>
          <p:cNvSpPr/>
          <p:nvPr/>
        </p:nvSpPr>
        <p:spPr>
          <a:xfrm>
            <a:off x="640080" y="886968"/>
            <a:ext cx="3566160" cy="320040"/>
          </a:xfrm>
          <a:prstGeom prst="rect">
            <a:avLst/>
          </a:prstGeom>
          <a:noFill/>
          <a:ln/>
        </p:spPr>
        <p:txBody>
          <a:bodyPr wrap="square" lIns="0" tIns="0" rIns="0" bIns="0" rtlCol="0" anchor="ctr"/>
          <a:lstStyle/>
          <a:p>
            <a:pPr marL="0" indent="0">
              <a:buNone/>
            </a:pPr>
            <a:r>
              <a:rPr lang="en-US" sz="1100" b="1" dirty="0">
                <a:solidFill>
                  <a:srgbClr val="1E293B"/>
                </a:solidFill>
                <a:latin typeface="Century Gothic" panose="020B0502020202020204" pitchFamily="34" charset="0"/>
                <a:ea typeface="Calibri" pitchFamily="34" charset="-122"/>
                <a:cs typeface="Calibri" pitchFamily="34" charset="-120"/>
              </a:rPr>
              <a:t>①  Temporal Triple Tagging</a:t>
            </a:r>
            <a:endParaRPr lang="en-US" sz="1100" dirty="0">
              <a:latin typeface="Century Gothic" panose="020B0502020202020204" pitchFamily="34" charset="0"/>
            </a:endParaRPr>
          </a:p>
        </p:txBody>
      </p:sp>
      <p:sp>
        <p:nvSpPr>
          <p:cNvPr id="7" name="Text 5"/>
          <p:cNvSpPr/>
          <p:nvPr/>
        </p:nvSpPr>
        <p:spPr>
          <a:xfrm>
            <a:off x="640080" y="1225296"/>
            <a:ext cx="3566160" cy="512064"/>
          </a:xfrm>
          <a:prstGeom prst="rect">
            <a:avLst/>
          </a:prstGeom>
          <a:noFill/>
          <a:ln/>
        </p:spPr>
        <p:txBody>
          <a:bodyPr wrap="square" lIns="0" tIns="0" rIns="0" bIns="0" rtlCol="0" anchor="ctr"/>
          <a:lstStyle/>
          <a:p>
            <a:pPr marL="0" indent="0">
              <a:buNone/>
            </a:pPr>
            <a:r>
              <a:rPr lang="en-US" sz="1050" dirty="0">
                <a:solidFill>
                  <a:srgbClr val="64748B"/>
                </a:solidFill>
                <a:latin typeface="Century Gothic" panose="020B0502020202020204" pitchFamily="34" charset="0"/>
                <a:ea typeface="Calibri" pitchFamily="34" charset="-122"/>
                <a:cs typeface="Calibri" pitchFamily="34" charset="-120"/>
              </a:rPr>
              <a:t>Attach [valid_from, valid_to] to every KG triple at construction time — enabling deterministic point-in-time filtering during retrieval.</a:t>
            </a:r>
            <a:endParaRPr lang="en-US" sz="1050" dirty="0">
              <a:latin typeface="Century Gothic" panose="020B0502020202020204" pitchFamily="34" charset="0"/>
            </a:endParaRPr>
          </a:p>
        </p:txBody>
      </p:sp>
      <p:sp>
        <p:nvSpPr>
          <p:cNvPr id="8" name="Shape 6"/>
          <p:cNvSpPr/>
          <p:nvPr/>
        </p:nvSpPr>
        <p:spPr>
          <a:xfrm>
            <a:off x="4800600" y="841248"/>
            <a:ext cx="73152" cy="960120"/>
          </a:xfrm>
          <a:prstGeom prst="rect">
            <a:avLst/>
          </a:prstGeom>
          <a:solidFill>
            <a:srgbClr val="3D8BCD"/>
          </a:solidFill>
          <a:ln w="12700">
            <a:solidFill>
              <a:srgbClr val="3D8BCD"/>
            </a:solidFill>
            <a:prstDash val="solid"/>
          </a:ln>
        </p:spPr>
        <p:txBody>
          <a:bodyPr/>
          <a:lstStyle/>
          <a:p>
            <a:endParaRPr lang="en-US" sz="1400">
              <a:latin typeface="Century Gothic" panose="020B0502020202020204" pitchFamily="34" charset="0"/>
            </a:endParaRPr>
          </a:p>
        </p:txBody>
      </p:sp>
      <p:sp>
        <p:nvSpPr>
          <p:cNvPr id="9" name="Shape 7"/>
          <p:cNvSpPr/>
          <p:nvPr/>
        </p:nvSpPr>
        <p:spPr>
          <a:xfrm>
            <a:off x="4873752" y="841248"/>
            <a:ext cx="3767328" cy="96012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sz="1400">
              <a:latin typeface="Century Gothic" panose="020B0502020202020204" pitchFamily="34" charset="0"/>
            </a:endParaRPr>
          </a:p>
        </p:txBody>
      </p:sp>
      <p:sp>
        <p:nvSpPr>
          <p:cNvPr id="10" name="Text 8"/>
          <p:cNvSpPr/>
          <p:nvPr/>
        </p:nvSpPr>
        <p:spPr>
          <a:xfrm>
            <a:off x="4983480" y="886968"/>
            <a:ext cx="3566160" cy="320040"/>
          </a:xfrm>
          <a:prstGeom prst="rect">
            <a:avLst/>
          </a:prstGeom>
          <a:noFill/>
          <a:ln/>
        </p:spPr>
        <p:txBody>
          <a:bodyPr wrap="square" lIns="0" tIns="0" rIns="0" bIns="0" rtlCol="0" anchor="ctr"/>
          <a:lstStyle/>
          <a:p>
            <a:pPr marL="0" indent="0">
              <a:buNone/>
            </a:pPr>
            <a:r>
              <a:rPr lang="en-US" sz="1100" b="1" dirty="0">
                <a:solidFill>
                  <a:srgbClr val="1E293B"/>
                </a:solidFill>
                <a:latin typeface="Century Gothic" panose="020B0502020202020204" pitchFamily="34" charset="0"/>
                <a:ea typeface="Calibri" pitchFamily="34" charset="-122"/>
                <a:cs typeface="Calibri" pitchFamily="34" charset="-120"/>
              </a:rPr>
              <a:t>②  GoG Fill-in Mechanism</a:t>
            </a:r>
            <a:endParaRPr lang="en-US" sz="1100" dirty="0">
              <a:latin typeface="Century Gothic" panose="020B0502020202020204" pitchFamily="34" charset="0"/>
            </a:endParaRPr>
          </a:p>
        </p:txBody>
      </p:sp>
      <p:sp>
        <p:nvSpPr>
          <p:cNvPr id="11" name="Text 9"/>
          <p:cNvSpPr/>
          <p:nvPr/>
        </p:nvSpPr>
        <p:spPr>
          <a:xfrm>
            <a:off x="4983480" y="1225296"/>
            <a:ext cx="3566160" cy="512064"/>
          </a:xfrm>
          <a:prstGeom prst="rect">
            <a:avLst/>
          </a:prstGeom>
          <a:noFill/>
          <a:ln/>
        </p:spPr>
        <p:txBody>
          <a:bodyPr wrap="square" lIns="0" tIns="0" rIns="0" bIns="0" rtlCol="0" anchor="ctr"/>
          <a:lstStyle/>
          <a:p>
            <a:pPr marL="0" indent="0">
              <a:buNone/>
            </a:pPr>
            <a:r>
              <a:rPr lang="en-US" sz="1050" dirty="0">
                <a:solidFill>
                  <a:srgbClr val="64748B"/>
                </a:solidFill>
                <a:latin typeface="Century Gothic" panose="020B0502020202020204" pitchFamily="34" charset="0"/>
                <a:ea typeface="Calibri" pitchFamily="34" charset="-122"/>
                <a:cs typeface="Calibri" pitchFamily="34" charset="-120"/>
              </a:rPr>
              <a:t>When temporal filtering leaves dead ends in the graph, invoke LLM parametric knowledge to fill in missing facts (confidence threshold ≥ 0.7).</a:t>
            </a:r>
            <a:endParaRPr lang="en-US" sz="1050" dirty="0">
              <a:latin typeface="Century Gothic" panose="020B0502020202020204" pitchFamily="34" charset="0"/>
            </a:endParaRPr>
          </a:p>
        </p:txBody>
      </p:sp>
      <p:sp>
        <p:nvSpPr>
          <p:cNvPr id="12" name="Text 10"/>
          <p:cNvSpPr/>
          <p:nvPr/>
        </p:nvSpPr>
        <p:spPr>
          <a:xfrm>
            <a:off x="457200" y="1920240"/>
            <a:ext cx="8229600" cy="320040"/>
          </a:xfrm>
          <a:prstGeom prst="rect">
            <a:avLst/>
          </a:prstGeom>
          <a:noFill/>
          <a:ln/>
        </p:spPr>
        <p:txBody>
          <a:bodyPr wrap="square" lIns="0" tIns="0" rIns="0" bIns="0" rtlCol="0" anchor="ctr"/>
          <a:lstStyle/>
          <a:p>
            <a:pPr marL="0" indent="0">
              <a:buNone/>
            </a:pPr>
            <a:r>
              <a:rPr lang="en-US" sz="1200" b="1" dirty="0">
                <a:solidFill>
                  <a:srgbClr val="3D8BCD"/>
                </a:solidFill>
                <a:latin typeface="Century Gothic" panose="020B0502020202020204" pitchFamily="34" charset="0"/>
                <a:ea typeface="Calibri" pitchFamily="34" charset="-122"/>
                <a:cs typeface="Calibri" pitchFamily="34" charset="-120"/>
              </a:rPr>
              <a:t>Temporal Filter  (applied before GEAR graph expansion)</a:t>
            </a:r>
            <a:endParaRPr lang="en-US" sz="1200" dirty="0">
              <a:latin typeface="Century Gothic" panose="020B0502020202020204" pitchFamily="34" charset="0"/>
            </a:endParaRPr>
          </a:p>
        </p:txBody>
      </p:sp>
      <p:sp>
        <p:nvSpPr>
          <p:cNvPr id="13" name="Shape 11"/>
          <p:cNvSpPr/>
          <p:nvPr/>
        </p:nvSpPr>
        <p:spPr>
          <a:xfrm>
            <a:off x="457200" y="2286000"/>
            <a:ext cx="8229600" cy="685800"/>
          </a:xfrm>
          <a:prstGeom prst="rect">
            <a:avLst/>
          </a:prstGeom>
          <a:solidFill>
            <a:srgbClr val="EFF6FF"/>
          </a:solidFill>
          <a:ln w="12700">
            <a:solidFill>
              <a:srgbClr val="BFDBFE"/>
            </a:solidFill>
            <a:prstDash val="solid"/>
          </a:ln>
        </p:spPr>
        <p:txBody>
          <a:bodyPr/>
          <a:lstStyle/>
          <a:p>
            <a:endParaRPr lang="en-US" sz="1400">
              <a:latin typeface="Century Gothic" panose="020B0502020202020204" pitchFamily="34" charset="0"/>
            </a:endParaRPr>
          </a:p>
        </p:txBody>
      </p:sp>
      <p:sp>
        <p:nvSpPr>
          <p:cNvPr id="14" name="Text 12"/>
          <p:cNvSpPr/>
          <p:nvPr/>
        </p:nvSpPr>
        <p:spPr>
          <a:xfrm>
            <a:off x="640080" y="2322576"/>
            <a:ext cx="7863840" cy="594360"/>
          </a:xfrm>
          <a:prstGeom prst="rect">
            <a:avLst/>
          </a:prstGeom>
          <a:noFill/>
          <a:ln/>
        </p:spPr>
        <p:txBody>
          <a:bodyPr wrap="square" lIns="0" tIns="0" rIns="0" bIns="0" rtlCol="0" anchor="ctr"/>
          <a:lstStyle/>
          <a:p>
            <a:pPr marL="0" indent="0" algn="ctr">
              <a:buNone/>
            </a:pPr>
            <a:r>
              <a:rPr lang="en-US" sz="1100" dirty="0">
                <a:solidFill>
                  <a:schemeClr val="bg1"/>
                </a:solidFill>
                <a:latin typeface="Century Gothic" panose="020B0502020202020204" pitchFamily="34" charset="0"/>
                <a:ea typeface="Calibri" pitchFamily="34" charset="-122"/>
                <a:cs typeface="Calibri" pitchFamily="34" charset="-120"/>
              </a:rPr>
              <a:t>Keep edge  e  iff:  ( valid_from = null  OR  valid_from ≤ y_q )  AND  ( valid_to = null  OR  valid_to ≥ y_q )</a:t>
            </a:r>
            <a:endParaRPr lang="en-US" sz="1100" dirty="0">
              <a:solidFill>
                <a:schemeClr val="bg1"/>
              </a:solidFill>
              <a:latin typeface="Century Gothic" panose="020B0502020202020204" pitchFamily="34" charset="0"/>
            </a:endParaRPr>
          </a:p>
        </p:txBody>
      </p:sp>
      <p:sp>
        <p:nvSpPr>
          <p:cNvPr id="15" name="Text 13"/>
          <p:cNvSpPr/>
          <p:nvPr/>
        </p:nvSpPr>
        <p:spPr>
          <a:xfrm>
            <a:off x="64008" y="2980944"/>
            <a:ext cx="8229600" cy="320040"/>
          </a:xfrm>
          <a:prstGeom prst="rect">
            <a:avLst/>
          </a:prstGeom>
          <a:noFill/>
          <a:ln/>
        </p:spPr>
        <p:txBody>
          <a:bodyPr wrap="square" lIns="0" tIns="0" rIns="0" bIns="0" rtlCol="0" anchor="ctr"/>
          <a:lstStyle/>
          <a:p>
            <a:pPr marL="0" indent="0">
              <a:buNone/>
            </a:pPr>
            <a:r>
              <a:rPr lang="en-US" sz="1200" b="1" dirty="0">
                <a:solidFill>
                  <a:srgbClr val="3D8BCD"/>
                </a:solidFill>
                <a:latin typeface="Century Gothic" panose="020B0502020202020204" pitchFamily="34" charset="0"/>
                <a:ea typeface="Calibri" pitchFamily="34" charset="-122"/>
                <a:cs typeface="Calibri" pitchFamily="34" charset="-120"/>
              </a:rPr>
              <a:t>Temporal Failure Taxonomy  (4 types — all addressed by TempoRAG-KG)</a:t>
            </a:r>
            <a:endParaRPr lang="en-US" sz="1200" dirty="0">
              <a:latin typeface="Century Gothic" panose="020B0502020202020204" pitchFamily="34" charset="0"/>
            </a:endParaRPr>
          </a:p>
        </p:txBody>
      </p:sp>
      <p:sp>
        <p:nvSpPr>
          <p:cNvPr id="16" name="Shape 14"/>
          <p:cNvSpPr/>
          <p:nvPr/>
        </p:nvSpPr>
        <p:spPr>
          <a:xfrm>
            <a:off x="638431" y="3335012"/>
            <a:ext cx="1391537" cy="804672"/>
          </a:xfrm>
          <a:prstGeom prst="rect">
            <a:avLst/>
          </a:prstGeom>
          <a:solidFill>
            <a:srgbClr val="EBF4FF"/>
          </a:solidFill>
          <a:ln w="12700">
            <a:solidFill>
              <a:srgbClr val="BFDBFE"/>
            </a:solidFill>
            <a:prstDash val="solid"/>
          </a:ln>
        </p:spPr>
        <p:txBody>
          <a:bodyPr/>
          <a:lstStyle/>
          <a:p>
            <a:endParaRPr lang="en-US" sz="1400">
              <a:latin typeface="Century Gothic" panose="020B0502020202020204" pitchFamily="34" charset="0"/>
            </a:endParaRPr>
          </a:p>
        </p:txBody>
      </p:sp>
      <p:sp>
        <p:nvSpPr>
          <p:cNvPr id="17" name="Text 15"/>
          <p:cNvSpPr/>
          <p:nvPr/>
        </p:nvSpPr>
        <p:spPr>
          <a:xfrm>
            <a:off x="711583" y="3371588"/>
            <a:ext cx="1828800" cy="274320"/>
          </a:xfrm>
          <a:prstGeom prst="rect">
            <a:avLst/>
          </a:prstGeom>
          <a:noFill/>
          <a:ln/>
        </p:spPr>
        <p:txBody>
          <a:bodyPr wrap="square" lIns="0" tIns="0" rIns="0" bIns="0" rtlCol="0" anchor="ctr"/>
          <a:lstStyle/>
          <a:p>
            <a:pPr marL="0" indent="0">
              <a:buNone/>
            </a:pPr>
            <a:r>
              <a:rPr lang="en-US" sz="800" b="1" dirty="0">
                <a:solidFill>
                  <a:srgbClr val="3D8BCD"/>
                </a:solidFill>
                <a:latin typeface="Century Gothic" panose="020B0502020202020204" pitchFamily="34" charset="0"/>
                <a:ea typeface="Calibri" pitchFamily="34" charset="-122"/>
                <a:cs typeface="Calibri" pitchFamily="34" charset="-120"/>
              </a:rPr>
              <a:t>Type 1</a:t>
            </a:r>
            <a:endParaRPr lang="en-US" sz="800" dirty="0">
              <a:latin typeface="Century Gothic" panose="020B0502020202020204" pitchFamily="34" charset="0"/>
            </a:endParaRPr>
          </a:p>
        </p:txBody>
      </p:sp>
      <p:sp>
        <p:nvSpPr>
          <p:cNvPr id="18" name="Text 16"/>
          <p:cNvSpPr/>
          <p:nvPr/>
        </p:nvSpPr>
        <p:spPr>
          <a:xfrm>
            <a:off x="675006" y="3656701"/>
            <a:ext cx="1318385" cy="438912"/>
          </a:xfrm>
          <a:prstGeom prst="rect">
            <a:avLst/>
          </a:prstGeom>
          <a:noFill/>
          <a:ln/>
        </p:spPr>
        <p:txBody>
          <a:bodyPr wrap="square" lIns="0" tIns="0" rIns="0" bIns="0" rtlCol="0" anchor="ctr"/>
          <a:lstStyle/>
          <a:p>
            <a:pPr marL="0" indent="0" algn="ctr">
              <a:buNone/>
            </a:pPr>
            <a:r>
              <a:rPr lang="en-US" sz="1050" dirty="0">
                <a:solidFill>
                  <a:srgbClr val="1E293B"/>
                </a:solidFill>
                <a:latin typeface="Century Gothic" panose="020B0502020202020204" pitchFamily="34" charset="0"/>
                <a:ea typeface="Calibri" pitchFamily="34" charset="-122"/>
                <a:cs typeface="Calibri" pitchFamily="34" charset="-120"/>
              </a:rPr>
              <a:t>Stale Fact</a:t>
            </a:r>
            <a:endParaRPr lang="en-US" sz="1050" dirty="0">
              <a:latin typeface="Century Gothic" panose="020B0502020202020204" pitchFamily="34" charset="0"/>
            </a:endParaRPr>
          </a:p>
        </p:txBody>
      </p:sp>
      <p:sp>
        <p:nvSpPr>
          <p:cNvPr id="19" name="Shape 17"/>
          <p:cNvSpPr/>
          <p:nvPr/>
        </p:nvSpPr>
        <p:spPr>
          <a:xfrm>
            <a:off x="2878711" y="3335012"/>
            <a:ext cx="1391537" cy="804672"/>
          </a:xfrm>
          <a:prstGeom prst="rect">
            <a:avLst/>
          </a:prstGeom>
          <a:solidFill>
            <a:srgbClr val="EBF4FF"/>
          </a:solidFill>
          <a:ln w="12700">
            <a:solidFill>
              <a:srgbClr val="BFDBFE"/>
            </a:solidFill>
            <a:prstDash val="solid"/>
          </a:ln>
        </p:spPr>
        <p:txBody>
          <a:bodyPr/>
          <a:lstStyle/>
          <a:p>
            <a:endParaRPr lang="en-US" sz="1400">
              <a:latin typeface="Century Gothic" panose="020B0502020202020204" pitchFamily="34" charset="0"/>
            </a:endParaRPr>
          </a:p>
        </p:txBody>
      </p:sp>
      <p:sp>
        <p:nvSpPr>
          <p:cNvPr id="20" name="Text 18"/>
          <p:cNvSpPr/>
          <p:nvPr/>
        </p:nvSpPr>
        <p:spPr>
          <a:xfrm>
            <a:off x="2951863" y="3371588"/>
            <a:ext cx="1828800" cy="274320"/>
          </a:xfrm>
          <a:prstGeom prst="rect">
            <a:avLst/>
          </a:prstGeom>
          <a:noFill/>
          <a:ln/>
        </p:spPr>
        <p:txBody>
          <a:bodyPr wrap="square" lIns="0" tIns="0" rIns="0" bIns="0" rtlCol="0" anchor="ctr"/>
          <a:lstStyle/>
          <a:p>
            <a:pPr marL="0" indent="0">
              <a:buNone/>
            </a:pPr>
            <a:r>
              <a:rPr lang="en-US" sz="800" b="1" dirty="0">
                <a:solidFill>
                  <a:srgbClr val="3D8BCD"/>
                </a:solidFill>
                <a:latin typeface="Century Gothic" panose="020B0502020202020204" pitchFamily="34" charset="0"/>
                <a:ea typeface="Calibri" pitchFamily="34" charset="-122"/>
                <a:cs typeface="Calibri" pitchFamily="34" charset="-120"/>
              </a:rPr>
              <a:t>Type 2</a:t>
            </a:r>
            <a:endParaRPr lang="en-US" sz="800" dirty="0">
              <a:latin typeface="Century Gothic" panose="020B0502020202020204" pitchFamily="34" charset="0"/>
            </a:endParaRPr>
          </a:p>
        </p:txBody>
      </p:sp>
      <p:sp>
        <p:nvSpPr>
          <p:cNvPr id="21" name="Text 19"/>
          <p:cNvSpPr/>
          <p:nvPr/>
        </p:nvSpPr>
        <p:spPr>
          <a:xfrm>
            <a:off x="2878711" y="3655052"/>
            <a:ext cx="1327529" cy="438912"/>
          </a:xfrm>
          <a:prstGeom prst="rect">
            <a:avLst/>
          </a:prstGeom>
          <a:noFill/>
          <a:ln/>
        </p:spPr>
        <p:txBody>
          <a:bodyPr wrap="square" lIns="0" tIns="0" rIns="0" bIns="0" rtlCol="0" anchor="ctr"/>
          <a:lstStyle/>
          <a:p>
            <a:pPr marL="0" indent="0" algn="ctr">
              <a:buNone/>
            </a:pPr>
            <a:r>
              <a:rPr lang="en-US" sz="1050" dirty="0">
                <a:solidFill>
                  <a:srgbClr val="1E293B"/>
                </a:solidFill>
                <a:latin typeface="Century Gothic" panose="020B0502020202020204" pitchFamily="34" charset="0"/>
                <a:ea typeface="Calibri" pitchFamily="34" charset="-122"/>
                <a:cs typeface="Calibri" pitchFamily="34" charset="-120"/>
              </a:rPr>
              <a:t>Conflicting Facts</a:t>
            </a:r>
            <a:endParaRPr lang="en-US" sz="1050" dirty="0">
              <a:latin typeface="Century Gothic" panose="020B0502020202020204" pitchFamily="34" charset="0"/>
            </a:endParaRPr>
          </a:p>
        </p:txBody>
      </p:sp>
      <p:sp>
        <p:nvSpPr>
          <p:cNvPr id="22" name="Shape 20"/>
          <p:cNvSpPr/>
          <p:nvPr/>
        </p:nvSpPr>
        <p:spPr>
          <a:xfrm>
            <a:off x="5118991" y="3335012"/>
            <a:ext cx="1391537" cy="804672"/>
          </a:xfrm>
          <a:prstGeom prst="rect">
            <a:avLst/>
          </a:prstGeom>
          <a:solidFill>
            <a:srgbClr val="EBF4FF"/>
          </a:solidFill>
          <a:ln w="12700">
            <a:solidFill>
              <a:srgbClr val="BFDBFE"/>
            </a:solidFill>
            <a:prstDash val="solid"/>
          </a:ln>
        </p:spPr>
        <p:txBody>
          <a:bodyPr/>
          <a:lstStyle/>
          <a:p>
            <a:endParaRPr lang="en-US" sz="1400">
              <a:latin typeface="Century Gothic" panose="020B0502020202020204" pitchFamily="34" charset="0"/>
            </a:endParaRPr>
          </a:p>
        </p:txBody>
      </p:sp>
      <p:sp>
        <p:nvSpPr>
          <p:cNvPr id="23" name="Text 21"/>
          <p:cNvSpPr/>
          <p:nvPr/>
        </p:nvSpPr>
        <p:spPr>
          <a:xfrm>
            <a:off x="5192143" y="3371588"/>
            <a:ext cx="1828800" cy="274320"/>
          </a:xfrm>
          <a:prstGeom prst="rect">
            <a:avLst/>
          </a:prstGeom>
          <a:noFill/>
          <a:ln/>
        </p:spPr>
        <p:txBody>
          <a:bodyPr wrap="square" lIns="0" tIns="0" rIns="0" bIns="0" rtlCol="0" anchor="ctr"/>
          <a:lstStyle/>
          <a:p>
            <a:pPr marL="0" indent="0">
              <a:buNone/>
            </a:pPr>
            <a:r>
              <a:rPr lang="en-US" sz="800" b="1" dirty="0">
                <a:solidFill>
                  <a:srgbClr val="3D8BCD"/>
                </a:solidFill>
                <a:latin typeface="Century Gothic" panose="020B0502020202020204" pitchFamily="34" charset="0"/>
                <a:ea typeface="Calibri" pitchFamily="34" charset="-122"/>
                <a:cs typeface="Calibri" pitchFamily="34" charset="-120"/>
              </a:rPr>
              <a:t>Type 3</a:t>
            </a:r>
            <a:endParaRPr lang="en-US" sz="800" dirty="0">
              <a:latin typeface="Century Gothic" panose="020B0502020202020204" pitchFamily="34" charset="0"/>
            </a:endParaRPr>
          </a:p>
        </p:txBody>
      </p:sp>
      <p:sp>
        <p:nvSpPr>
          <p:cNvPr id="24" name="Text 22"/>
          <p:cNvSpPr/>
          <p:nvPr/>
        </p:nvSpPr>
        <p:spPr>
          <a:xfrm>
            <a:off x="5155566" y="3656701"/>
            <a:ext cx="1318385" cy="438912"/>
          </a:xfrm>
          <a:prstGeom prst="rect">
            <a:avLst/>
          </a:prstGeom>
          <a:noFill/>
          <a:ln/>
        </p:spPr>
        <p:txBody>
          <a:bodyPr wrap="square" lIns="0" tIns="0" rIns="0" bIns="0" rtlCol="0" anchor="ctr"/>
          <a:lstStyle/>
          <a:p>
            <a:pPr marL="0" indent="0" algn="ctr">
              <a:buNone/>
            </a:pPr>
            <a:r>
              <a:rPr lang="en-US" sz="1050" dirty="0">
                <a:solidFill>
                  <a:srgbClr val="1E293B"/>
                </a:solidFill>
                <a:latin typeface="Century Gothic" panose="020B0502020202020204" pitchFamily="34" charset="0"/>
                <a:ea typeface="Calibri" pitchFamily="34" charset="-122"/>
                <a:cs typeface="Calibri" pitchFamily="34" charset="-120"/>
              </a:rPr>
              <a:t>Missing Context</a:t>
            </a:r>
            <a:endParaRPr lang="en-US" sz="1050" dirty="0">
              <a:latin typeface="Century Gothic" panose="020B0502020202020204" pitchFamily="34" charset="0"/>
            </a:endParaRPr>
          </a:p>
        </p:txBody>
      </p:sp>
      <p:sp>
        <p:nvSpPr>
          <p:cNvPr id="25" name="Shape 23"/>
          <p:cNvSpPr/>
          <p:nvPr/>
        </p:nvSpPr>
        <p:spPr>
          <a:xfrm>
            <a:off x="7295263" y="3319272"/>
            <a:ext cx="1391537" cy="804672"/>
          </a:xfrm>
          <a:prstGeom prst="rect">
            <a:avLst/>
          </a:prstGeom>
          <a:solidFill>
            <a:srgbClr val="EBF4FF"/>
          </a:solidFill>
          <a:ln w="12700">
            <a:solidFill>
              <a:srgbClr val="BFDBFE"/>
            </a:solidFill>
            <a:prstDash val="solid"/>
          </a:ln>
        </p:spPr>
        <p:txBody>
          <a:bodyPr/>
          <a:lstStyle/>
          <a:p>
            <a:endParaRPr lang="en-US" sz="1400">
              <a:latin typeface="Century Gothic" panose="020B0502020202020204" pitchFamily="34" charset="0"/>
            </a:endParaRPr>
          </a:p>
        </p:txBody>
      </p:sp>
      <p:sp>
        <p:nvSpPr>
          <p:cNvPr id="26" name="Text 24"/>
          <p:cNvSpPr/>
          <p:nvPr/>
        </p:nvSpPr>
        <p:spPr>
          <a:xfrm>
            <a:off x="7432423" y="3371588"/>
            <a:ext cx="1828800" cy="274320"/>
          </a:xfrm>
          <a:prstGeom prst="rect">
            <a:avLst/>
          </a:prstGeom>
          <a:noFill/>
          <a:ln/>
        </p:spPr>
        <p:txBody>
          <a:bodyPr wrap="square" lIns="0" tIns="0" rIns="0" bIns="0" rtlCol="0" anchor="ctr"/>
          <a:lstStyle/>
          <a:p>
            <a:pPr marL="0" indent="0">
              <a:buNone/>
            </a:pPr>
            <a:r>
              <a:rPr lang="en-US" sz="800" b="1" dirty="0">
                <a:solidFill>
                  <a:srgbClr val="3D8BCD"/>
                </a:solidFill>
                <a:latin typeface="Century Gothic" panose="020B0502020202020204" pitchFamily="34" charset="0"/>
                <a:ea typeface="Calibri" pitchFamily="34" charset="-122"/>
                <a:cs typeface="Calibri" pitchFamily="34" charset="-120"/>
              </a:rPr>
              <a:t>Type 4</a:t>
            </a:r>
            <a:endParaRPr lang="en-US" sz="800" dirty="0">
              <a:latin typeface="Century Gothic" panose="020B0502020202020204" pitchFamily="34" charset="0"/>
            </a:endParaRPr>
          </a:p>
        </p:txBody>
      </p:sp>
      <p:sp>
        <p:nvSpPr>
          <p:cNvPr id="27" name="Text 25"/>
          <p:cNvSpPr/>
          <p:nvPr/>
        </p:nvSpPr>
        <p:spPr>
          <a:xfrm>
            <a:off x="7359271" y="3655052"/>
            <a:ext cx="1281809" cy="438912"/>
          </a:xfrm>
          <a:prstGeom prst="rect">
            <a:avLst/>
          </a:prstGeom>
          <a:noFill/>
          <a:ln/>
        </p:spPr>
        <p:txBody>
          <a:bodyPr wrap="square" lIns="0" tIns="0" rIns="0" bIns="0" rtlCol="0" anchor="ctr"/>
          <a:lstStyle/>
          <a:p>
            <a:pPr marL="0" indent="0" algn="ctr">
              <a:buNone/>
            </a:pPr>
            <a:r>
              <a:rPr lang="en-US" sz="1050" dirty="0">
                <a:solidFill>
                  <a:srgbClr val="1E293B"/>
                </a:solidFill>
                <a:latin typeface="Century Gothic" panose="020B0502020202020204" pitchFamily="34" charset="0"/>
                <a:ea typeface="Calibri" pitchFamily="34" charset="-122"/>
                <a:cs typeface="Calibri" pitchFamily="34" charset="-120"/>
              </a:rPr>
              <a:t>Hop Failure</a:t>
            </a:r>
            <a:endParaRPr lang="en-US" sz="1050" dirty="0">
              <a:latin typeface="Century Gothic" panose="020B0502020202020204" pitchFamily="34" charset="0"/>
            </a:endParaRPr>
          </a:p>
        </p:txBody>
      </p:sp>
      <p:sp>
        <p:nvSpPr>
          <p:cNvPr id="28" name="Text 26"/>
          <p:cNvSpPr/>
          <p:nvPr/>
        </p:nvSpPr>
        <p:spPr>
          <a:xfrm>
            <a:off x="8412480" y="4864608"/>
            <a:ext cx="640080" cy="201168"/>
          </a:xfrm>
          <a:prstGeom prst="rect">
            <a:avLst/>
          </a:prstGeom>
          <a:noFill/>
          <a:ln/>
        </p:spPr>
        <p:txBody>
          <a:bodyPr wrap="square" lIns="0" tIns="0" rIns="0" bIns="0" rtlCol="0" anchor="ctr"/>
          <a:lstStyle/>
          <a:p>
            <a:pPr marL="0" indent="0" algn="r">
              <a:buNone/>
            </a:pPr>
            <a:r>
              <a:rPr lang="en-US" sz="700" dirty="0">
                <a:solidFill>
                  <a:srgbClr val="AAAAAA"/>
                </a:solidFill>
                <a:latin typeface="Century Gothic" panose="020B0502020202020204" pitchFamily="34" charset="0"/>
              </a:rPr>
              <a:t>4 / 7</a:t>
            </a:r>
            <a:endParaRPr lang="en-US" sz="700" dirty="0">
              <a:latin typeface="Century Gothic" panose="020B0502020202020204" pitchFamily="34" charset="0"/>
            </a:endParaRPr>
          </a:p>
        </p:txBody>
      </p:sp>
      <p:sp>
        <p:nvSpPr>
          <p:cNvPr id="30" name="TextBox 29">
            <a:extLst>
              <a:ext uri="{FF2B5EF4-FFF2-40B4-BE49-F238E27FC236}">
                <a16:creationId xmlns:a16="http://schemas.microsoft.com/office/drawing/2014/main" id="{9E439724-F3C6-760F-39FC-B60FAB998F0B}"/>
              </a:ext>
            </a:extLst>
          </p:cNvPr>
          <p:cNvSpPr txBox="1"/>
          <p:nvPr/>
        </p:nvSpPr>
        <p:spPr>
          <a:xfrm>
            <a:off x="2517823" y="846933"/>
            <a:ext cx="2054177" cy="200055"/>
          </a:xfrm>
          <a:prstGeom prst="rect">
            <a:avLst/>
          </a:prstGeom>
          <a:noFill/>
        </p:spPr>
        <p:txBody>
          <a:bodyPr wrap="square">
            <a:spAutoFit/>
          </a:bodyPr>
          <a:lstStyle/>
          <a:p>
            <a:pPr>
              <a:buNone/>
            </a:pPr>
            <a:r>
              <a:rPr lang="en-GB" sz="700" dirty="0" err="1">
                <a:solidFill>
                  <a:schemeClr val="bg1"/>
                </a:solidFill>
                <a:latin typeface="Century Gothic" panose="020B0502020202020204" pitchFamily="34" charset="0"/>
              </a:rPr>
              <a:t>TempAgent</a:t>
            </a:r>
            <a:r>
              <a:rPr lang="en-GB" sz="700" dirty="0">
                <a:solidFill>
                  <a:schemeClr val="bg1"/>
                </a:solidFill>
                <a:latin typeface="Century Gothic" panose="020B0502020202020204" pitchFamily="34" charset="0"/>
              </a:rPr>
              <a:t> [Xiong et al., NAACL 2025]</a:t>
            </a:r>
          </a:p>
        </p:txBody>
      </p:sp>
      <p:sp>
        <p:nvSpPr>
          <p:cNvPr id="32" name="TextBox 31">
            <a:extLst>
              <a:ext uri="{FF2B5EF4-FFF2-40B4-BE49-F238E27FC236}">
                <a16:creationId xmlns:a16="http://schemas.microsoft.com/office/drawing/2014/main" id="{856D32B2-BA25-3149-5E34-94534B5DD27E}"/>
              </a:ext>
            </a:extLst>
          </p:cNvPr>
          <p:cNvSpPr txBox="1"/>
          <p:nvPr/>
        </p:nvSpPr>
        <p:spPr>
          <a:xfrm>
            <a:off x="7178526" y="865939"/>
            <a:ext cx="1643297" cy="200055"/>
          </a:xfrm>
          <a:prstGeom prst="rect">
            <a:avLst/>
          </a:prstGeom>
          <a:noFill/>
        </p:spPr>
        <p:txBody>
          <a:bodyPr wrap="square">
            <a:spAutoFit/>
          </a:bodyPr>
          <a:lstStyle/>
          <a:p>
            <a:r>
              <a:rPr lang="en-GB" sz="700" i="0" dirty="0">
                <a:solidFill>
                  <a:schemeClr val="bg1"/>
                </a:solidFill>
                <a:effectLst/>
                <a:latin typeface="Century Gothic" panose="020B0502020202020204" pitchFamily="34" charset="0"/>
              </a:rPr>
              <a:t>GoG [He et al., EMNLP 2024]</a:t>
            </a:r>
            <a:endParaRPr lang="en-US" sz="700" dirty="0">
              <a:solidFill>
                <a:schemeClr val="bg1"/>
              </a:solidFill>
              <a:latin typeface="Century Gothic" panose="020B0502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408" name="Rounded Rectangle 407">
            <a:extLst>
              <a:ext uri="{FF2B5EF4-FFF2-40B4-BE49-F238E27FC236}">
                <a16:creationId xmlns:a16="http://schemas.microsoft.com/office/drawing/2014/main" id="{015A47A1-16B5-C5BC-6F3B-1FB81471E934}"/>
              </a:ext>
            </a:extLst>
          </p:cNvPr>
          <p:cNvSpPr/>
          <p:nvPr/>
        </p:nvSpPr>
        <p:spPr>
          <a:xfrm>
            <a:off x="941655" y="3031323"/>
            <a:ext cx="1244800" cy="67993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09" name="Rounded Rectangle 408">
            <a:extLst>
              <a:ext uri="{FF2B5EF4-FFF2-40B4-BE49-F238E27FC236}">
                <a16:creationId xmlns:a16="http://schemas.microsoft.com/office/drawing/2014/main" id="{D5E593B3-8A5D-E81A-4B81-5D0FAF04C0C2}"/>
              </a:ext>
            </a:extLst>
          </p:cNvPr>
          <p:cNvSpPr/>
          <p:nvPr/>
        </p:nvSpPr>
        <p:spPr>
          <a:xfrm>
            <a:off x="2270756" y="3023944"/>
            <a:ext cx="1210411" cy="6799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10" name="Rounded Rectangle 409">
            <a:extLst>
              <a:ext uri="{FF2B5EF4-FFF2-40B4-BE49-F238E27FC236}">
                <a16:creationId xmlns:a16="http://schemas.microsoft.com/office/drawing/2014/main" id="{08D753DB-4576-95D3-7C79-1701262D8D46}"/>
              </a:ext>
            </a:extLst>
          </p:cNvPr>
          <p:cNvSpPr/>
          <p:nvPr/>
        </p:nvSpPr>
        <p:spPr>
          <a:xfrm>
            <a:off x="3558931" y="3022267"/>
            <a:ext cx="1210411" cy="67993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1" name="Rounded Rectangle 410">
            <a:extLst>
              <a:ext uri="{FF2B5EF4-FFF2-40B4-BE49-F238E27FC236}">
                <a16:creationId xmlns:a16="http://schemas.microsoft.com/office/drawing/2014/main" id="{28E69CB2-244A-3C1B-6D88-735AA90B4489}"/>
              </a:ext>
            </a:extLst>
          </p:cNvPr>
          <p:cNvSpPr/>
          <p:nvPr/>
        </p:nvSpPr>
        <p:spPr>
          <a:xfrm>
            <a:off x="4865267" y="3031323"/>
            <a:ext cx="1210411" cy="6799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12" name="Rounded Rectangle 411">
            <a:extLst>
              <a:ext uri="{FF2B5EF4-FFF2-40B4-BE49-F238E27FC236}">
                <a16:creationId xmlns:a16="http://schemas.microsoft.com/office/drawing/2014/main" id="{3C3B0A0C-232E-05E9-31EC-AAEC710D0635}"/>
              </a:ext>
            </a:extLst>
          </p:cNvPr>
          <p:cNvSpPr/>
          <p:nvPr/>
        </p:nvSpPr>
        <p:spPr>
          <a:xfrm>
            <a:off x="6171603" y="3022267"/>
            <a:ext cx="1210411" cy="67993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3" name="Rounded Rectangle 412">
            <a:extLst>
              <a:ext uri="{FF2B5EF4-FFF2-40B4-BE49-F238E27FC236}">
                <a16:creationId xmlns:a16="http://schemas.microsoft.com/office/drawing/2014/main" id="{B2E21CAF-3F83-FF7D-DEC1-BC4B73FE0AC9}"/>
              </a:ext>
            </a:extLst>
          </p:cNvPr>
          <p:cNvSpPr/>
          <p:nvPr/>
        </p:nvSpPr>
        <p:spPr>
          <a:xfrm>
            <a:off x="7444145" y="3022267"/>
            <a:ext cx="1565421" cy="6799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06" name="Rounded Rectangle 405">
            <a:extLst>
              <a:ext uri="{FF2B5EF4-FFF2-40B4-BE49-F238E27FC236}">
                <a16:creationId xmlns:a16="http://schemas.microsoft.com/office/drawing/2014/main" id="{965D73D6-A272-5794-71CB-DC38066ACCF7}"/>
              </a:ext>
            </a:extLst>
          </p:cNvPr>
          <p:cNvSpPr/>
          <p:nvPr/>
        </p:nvSpPr>
        <p:spPr>
          <a:xfrm>
            <a:off x="64677" y="3023944"/>
            <a:ext cx="790525" cy="6799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02" name="Rounded Rectangle 401">
            <a:extLst>
              <a:ext uri="{FF2B5EF4-FFF2-40B4-BE49-F238E27FC236}">
                <a16:creationId xmlns:a16="http://schemas.microsoft.com/office/drawing/2014/main" id="{02996326-08B8-4A78-3885-8510975543CC}"/>
              </a:ext>
            </a:extLst>
          </p:cNvPr>
          <p:cNvSpPr/>
          <p:nvPr/>
        </p:nvSpPr>
        <p:spPr>
          <a:xfrm>
            <a:off x="4652891" y="1413679"/>
            <a:ext cx="2103903" cy="67993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03" name="Rounded Rectangle 402">
            <a:extLst>
              <a:ext uri="{FF2B5EF4-FFF2-40B4-BE49-F238E27FC236}">
                <a16:creationId xmlns:a16="http://schemas.microsoft.com/office/drawing/2014/main" id="{BDAC3AC6-4A3F-23F9-04D2-7AA963EF2A62}"/>
              </a:ext>
            </a:extLst>
          </p:cNvPr>
          <p:cNvSpPr/>
          <p:nvPr/>
        </p:nvSpPr>
        <p:spPr>
          <a:xfrm>
            <a:off x="6893949" y="1403932"/>
            <a:ext cx="2103903" cy="6799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04" name="Rounded Rectangle 403">
            <a:extLst>
              <a:ext uri="{FF2B5EF4-FFF2-40B4-BE49-F238E27FC236}">
                <a16:creationId xmlns:a16="http://schemas.microsoft.com/office/drawing/2014/main" id="{A928E868-3D95-D57D-D425-345BFFCCE0B7}"/>
              </a:ext>
            </a:extLst>
          </p:cNvPr>
          <p:cNvSpPr/>
          <p:nvPr/>
        </p:nvSpPr>
        <p:spPr>
          <a:xfrm>
            <a:off x="2341101" y="1413679"/>
            <a:ext cx="2103903" cy="6799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05" name="Rounded Rectangle 404">
            <a:extLst>
              <a:ext uri="{FF2B5EF4-FFF2-40B4-BE49-F238E27FC236}">
                <a16:creationId xmlns:a16="http://schemas.microsoft.com/office/drawing/2014/main" id="{121D7411-B97A-D11E-8F6B-7677E2AED6C0}"/>
              </a:ext>
            </a:extLst>
          </p:cNvPr>
          <p:cNvSpPr/>
          <p:nvPr/>
        </p:nvSpPr>
        <p:spPr>
          <a:xfrm>
            <a:off x="64677" y="1403932"/>
            <a:ext cx="2103903" cy="6799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System Architecture</a:t>
            </a:r>
            <a:endParaRPr lang="en-US" sz="3200" dirty="0"/>
          </a:p>
        </p:txBody>
      </p:sp>
      <p:sp>
        <p:nvSpPr>
          <p:cNvPr id="34" name="Text 32"/>
          <p:cNvSpPr/>
          <p:nvPr/>
        </p:nvSpPr>
        <p:spPr>
          <a:xfrm>
            <a:off x="8412480" y="4864608"/>
            <a:ext cx="640080" cy="201168"/>
          </a:xfrm>
          <a:prstGeom prst="rect">
            <a:avLst/>
          </a:prstGeom>
          <a:noFill/>
          <a:ln/>
        </p:spPr>
        <p:txBody>
          <a:bodyPr wrap="square" lIns="0" tIns="0" rIns="0" bIns="0" rtlCol="0" anchor="ctr"/>
          <a:lstStyle/>
          <a:p>
            <a:pPr marL="0" indent="0" algn="r">
              <a:buNone/>
            </a:pPr>
            <a:r>
              <a:rPr lang="en-US" sz="800" dirty="0">
                <a:solidFill>
                  <a:srgbClr val="AAAAAA"/>
                </a:solidFill>
              </a:rPr>
              <a:t>5 / 7</a:t>
            </a:r>
            <a:endParaRPr lang="en-US" sz="800" dirty="0"/>
          </a:p>
        </p:txBody>
      </p:sp>
      <p:grpSp>
        <p:nvGrpSpPr>
          <p:cNvPr id="371" name="Group 10">
            <a:extLst>
              <a:ext uri="{FF2B5EF4-FFF2-40B4-BE49-F238E27FC236}">
                <a16:creationId xmlns:a16="http://schemas.microsoft.com/office/drawing/2014/main" id="{101047C2-9A8A-AD4B-082C-BECFF6150BA7}"/>
              </a:ext>
            </a:extLst>
          </p:cNvPr>
          <p:cNvGrpSpPr/>
          <p:nvPr/>
        </p:nvGrpSpPr>
        <p:grpSpPr>
          <a:xfrm>
            <a:off x="457200" y="731520"/>
            <a:ext cx="2194560" cy="512064"/>
            <a:chOff x="0" y="0"/>
            <a:chExt cx="2926080" cy="682752"/>
          </a:xfrm>
        </p:grpSpPr>
        <p:sp>
          <p:nvSpPr>
            <p:cNvPr id="372" name="Freeform 11">
              <a:extLst>
                <a:ext uri="{FF2B5EF4-FFF2-40B4-BE49-F238E27FC236}">
                  <a16:creationId xmlns:a16="http://schemas.microsoft.com/office/drawing/2014/main" id="{F7AED91C-521F-7650-961A-FC3A77711545}"/>
                </a:ext>
              </a:extLst>
            </p:cNvPr>
            <p:cNvSpPr/>
            <p:nvPr/>
          </p:nvSpPr>
          <p:spPr>
            <a:xfrm>
              <a:off x="0" y="0"/>
              <a:ext cx="2926080" cy="682752"/>
            </a:xfrm>
            <a:custGeom>
              <a:avLst/>
              <a:gdLst/>
              <a:ahLst/>
              <a:cxnLst/>
              <a:rect l="l" t="t" r="r" b="b"/>
              <a:pathLst>
                <a:path w="2926080" h="682752">
                  <a:moveTo>
                    <a:pt x="0" y="0"/>
                  </a:moveTo>
                  <a:lnTo>
                    <a:pt x="2926080" y="0"/>
                  </a:lnTo>
                  <a:lnTo>
                    <a:pt x="2926080" y="682752"/>
                  </a:lnTo>
                  <a:lnTo>
                    <a:pt x="0" y="682752"/>
                  </a:lnTo>
                  <a:close/>
                </a:path>
              </a:pathLst>
            </a:custGeom>
            <a:blipFill>
              <a:blip r:embed="rId3">
                <a:alphaModFix amt="0"/>
              </a:blip>
              <a:stretch>
                <a:fillRect t="-33507" b="-33507"/>
              </a:stretch>
            </a:blipFill>
          </p:spPr>
          <p:txBody>
            <a:bodyPr/>
            <a:lstStyle/>
            <a:p>
              <a:endParaRPr lang="en-US" sz="1600"/>
            </a:p>
          </p:txBody>
        </p:sp>
        <p:sp>
          <p:nvSpPr>
            <p:cNvPr id="373" name="TextBox 12">
              <a:extLst>
                <a:ext uri="{FF2B5EF4-FFF2-40B4-BE49-F238E27FC236}">
                  <a16:creationId xmlns:a16="http://schemas.microsoft.com/office/drawing/2014/main" id="{641914CA-9647-D995-98CD-E83709888B1C}"/>
                </a:ext>
              </a:extLst>
            </p:cNvPr>
            <p:cNvSpPr txBox="1"/>
            <p:nvPr/>
          </p:nvSpPr>
          <p:spPr>
            <a:xfrm>
              <a:off x="0" y="-47625"/>
              <a:ext cx="2926080" cy="730377"/>
            </a:xfrm>
            <a:prstGeom prst="rect">
              <a:avLst/>
            </a:prstGeom>
          </p:spPr>
          <p:txBody>
            <a:bodyPr lIns="0" tIns="0" rIns="0" bIns="0" rtlCol="0" anchor="ctr"/>
            <a:lstStyle/>
            <a:p>
              <a:pPr algn="l">
                <a:lnSpc>
                  <a:spcPts val="2639"/>
                </a:lnSpc>
              </a:pPr>
              <a:r>
                <a:rPr lang="en-US" sz="1200" b="1" spc="488" dirty="0">
                  <a:solidFill>
                    <a:schemeClr val="bg1"/>
                  </a:solidFill>
                  <a:latin typeface="Calibri (MS) Bold"/>
                  <a:ea typeface="Calibri (MS) Bold"/>
                  <a:cs typeface="Calibri (MS) Bold"/>
                  <a:sym typeface="Calibri (MS) Bold"/>
                </a:rPr>
                <a:t>OFFLINE</a:t>
              </a:r>
            </a:p>
          </p:txBody>
        </p:sp>
      </p:grpSp>
      <p:sp>
        <p:nvSpPr>
          <p:cNvPr id="375" name="TextBox 374">
            <a:extLst>
              <a:ext uri="{FF2B5EF4-FFF2-40B4-BE49-F238E27FC236}">
                <a16:creationId xmlns:a16="http://schemas.microsoft.com/office/drawing/2014/main" id="{873F17D8-FAF3-B748-3F99-E88C76CDBA59}"/>
              </a:ext>
            </a:extLst>
          </p:cNvPr>
          <p:cNvSpPr txBox="1"/>
          <p:nvPr/>
        </p:nvSpPr>
        <p:spPr>
          <a:xfrm>
            <a:off x="315350" y="1622257"/>
            <a:ext cx="1590431" cy="261610"/>
          </a:xfrm>
          <a:prstGeom prst="rect">
            <a:avLst/>
          </a:prstGeom>
          <a:noFill/>
        </p:spPr>
        <p:txBody>
          <a:bodyPr wrap="square">
            <a:spAutoFit/>
          </a:bodyPr>
          <a:lstStyle/>
          <a:p>
            <a:pPr algn="ctr">
              <a:buNone/>
            </a:pPr>
            <a:r>
              <a:rPr lang="en-GB" sz="1100" dirty="0">
                <a:solidFill>
                  <a:schemeClr val="bg1"/>
                </a:solidFill>
              </a:rPr>
              <a:t>Documents</a:t>
            </a:r>
          </a:p>
        </p:txBody>
      </p:sp>
      <p:sp>
        <p:nvSpPr>
          <p:cNvPr id="377" name="TextBox 376">
            <a:extLst>
              <a:ext uri="{FF2B5EF4-FFF2-40B4-BE49-F238E27FC236}">
                <a16:creationId xmlns:a16="http://schemas.microsoft.com/office/drawing/2014/main" id="{88308B37-2336-9552-1F96-AF944FBFA842}"/>
              </a:ext>
            </a:extLst>
          </p:cNvPr>
          <p:cNvSpPr txBox="1"/>
          <p:nvPr/>
        </p:nvSpPr>
        <p:spPr>
          <a:xfrm>
            <a:off x="1981592" y="1474124"/>
            <a:ext cx="2848708" cy="530402"/>
          </a:xfrm>
          <a:prstGeom prst="rect">
            <a:avLst/>
          </a:prstGeom>
          <a:noFill/>
        </p:spPr>
        <p:txBody>
          <a:bodyPr wrap="square">
            <a:spAutoFit/>
          </a:bodyPr>
          <a:lstStyle/>
          <a:p>
            <a:pPr algn="ctr">
              <a:lnSpc>
                <a:spcPts val="1800"/>
              </a:lnSpc>
              <a:buNone/>
            </a:pPr>
            <a:r>
              <a:rPr lang="en-GB" sz="1100" b="0" i="0" dirty="0">
                <a:solidFill>
                  <a:schemeClr val="bg1"/>
                </a:solidFill>
                <a:effectLst/>
                <a:latin typeface="Century Gothic" panose="020B0502020202020204" pitchFamily="34" charset="0"/>
              </a:rPr>
              <a:t>Chunking</a:t>
            </a:r>
            <a:endParaRPr lang="en-GB" sz="1100" dirty="0">
              <a:solidFill>
                <a:schemeClr val="bg1"/>
              </a:solidFill>
              <a:effectLst/>
              <a:latin typeface="Century Gothic" panose="020B0502020202020204" pitchFamily="34" charset="0"/>
            </a:endParaRPr>
          </a:p>
          <a:p>
            <a:pPr algn="ctr">
              <a:lnSpc>
                <a:spcPts val="1800"/>
              </a:lnSpc>
              <a:buNone/>
            </a:pPr>
            <a:r>
              <a:rPr lang="en-GB" sz="1100" b="0" i="0" dirty="0">
                <a:solidFill>
                  <a:schemeClr val="bg1"/>
                </a:solidFill>
                <a:effectLst/>
                <a:latin typeface="Century Gothic" panose="020B0502020202020204" pitchFamily="34" charset="0"/>
              </a:rPr>
              <a:t>512 </a:t>
            </a:r>
            <a:r>
              <a:rPr lang="en-GB" sz="1100" b="0" i="0" dirty="0" err="1">
                <a:solidFill>
                  <a:schemeClr val="bg1"/>
                </a:solidFill>
                <a:effectLst/>
                <a:latin typeface="Century Gothic" panose="020B0502020202020204" pitchFamily="34" charset="0"/>
              </a:rPr>
              <a:t>tok</a:t>
            </a:r>
            <a:r>
              <a:rPr lang="en-GB" sz="1100" b="0" i="0" dirty="0">
                <a:solidFill>
                  <a:schemeClr val="bg1"/>
                </a:solidFill>
                <a:effectLst/>
                <a:latin typeface="Century Gothic" panose="020B0502020202020204" pitchFamily="34" charset="0"/>
              </a:rPr>
              <a:t>, 100 overlap</a:t>
            </a:r>
            <a:endParaRPr lang="en-GB" sz="1100" dirty="0">
              <a:solidFill>
                <a:schemeClr val="bg1"/>
              </a:solidFill>
              <a:effectLst/>
              <a:latin typeface="Century Gothic" panose="020B0502020202020204" pitchFamily="34" charset="0"/>
            </a:endParaRPr>
          </a:p>
        </p:txBody>
      </p:sp>
      <p:sp>
        <p:nvSpPr>
          <p:cNvPr id="379" name="TextBox 378">
            <a:extLst>
              <a:ext uri="{FF2B5EF4-FFF2-40B4-BE49-F238E27FC236}">
                <a16:creationId xmlns:a16="http://schemas.microsoft.com/office/drawing/2014/main" id="{42F3CE2F-F455-2179-0E7C-8AE860F9DB4A}"/>
              </a:ext>
            </a:extLst>
          </p:cNvPr>
          <p:cNvSpPr txBox="1"/>
          <p:nvPr/>
        </p:nvSpPr>
        <p:spPr>
          <a:xfrm>
            <a:off x="4688835" y="1551564"/>
            <a:ext cx="1922194" cy="430887"/>
          </a:xfrm>
          <a:prstGeom prst="rect">
            <a:avLst/>
          </a:prstGeom>
          <a:noFill/>
        </p:spPr>
        <p:txBody>
          <a:bodyPr wrap="square">
            <a:spAutoFit/>
          </a:bodyPr>
          <a:lstStyle/>
          <a:p>
            <a:pPr algn="ctr">
              <a:buNone/>
            </a:pPr>
            <a:r>
              <a:rPr lang="en-GB" sz="1100" dirty="0">
                <a:solidFill>
                  <a:schemeClr val="bg1"/>
                </a:solidFill>
              </a:rPr>
              <a:t>LLM Extraction + </a:t>
            </a:r>
            <a:r>
              <a:rPr lang="en-GB" sz="1100" dirty="0" err="1">
                <a:solidFill>
                  <a:schemeClr val="bg1"/>
                </a:solidFill>
              </a:rPr>
              <a:t>valid_from</a:t>
            </a:r>
            <a:r>
              <a:rPr lang="en-GB" sz="1100" dirty="0">
                <a:solidFill>
                  <a:schemeClr val="bg1"/>
                </a:solidFill>
              </a:rPr>
              <a:t> / </a:t>
            </a:r>
            <a:r>
              <a:rPr lang="en-GB" sz="1100" dirty="0" err="1">
                <a:solidFill>
                  <a:schemeClr val="bg1"/>
                </a:solidFill>
              </a:rPr>
              <a:t>valid_to</a:t>
            </a:r>
            <a:endParaRPr lang="en-GB" sz="1100" dirty="0">
              <a:solidFill>
                <a:schemeClr val="bg1"/>
              </a:solidFill>
            </a:endParaRPr>
          </a:p>
        </p:txBody>
      </p:sp>
      <p:sp>
        <p:nvSpPr>
          <p:cNvPr id="381" name="TextBox 380">
            <a:extLst>
              <a:ext uri="{FF2B5EF4-FFF2-40B4-BE49-F238E27FC236}">
                <a16:creationId xmlns:a16="http://schemas.microsoft.com/office/drawing/2014/main" id="{227489A0-0958-29C9-746C-A9B8EC610032}"/>
              </a:ext>
            </a:extLst>
          </p:cNvPr>
          <p:cNvSpPr txBox="1"/>
          <p:nvPr/>
        </p:nvSpPr>
        <p:spPr>
          <a:xfrm>
            <a:off x="7061979" y="1644225"/>
            <a:ext cx="1856154" cy="261610"/>
          </a:xfrm>
          <a:prstGeom prst="rect">
            <a:avLst/>
          </a:prstGeom>
          <a:noFill/>
        </p:spPr>
        <p:txBody>
          <a:bodyPr wrap="square">
            <a:spAutoFit/>
          </a:bodyPr>
          <a:lstStyle/>
          <a:p>
            <a:pPr algn="ctr">
              <a:buNone/>
            </a:pPr>
            <a:r>
              <a:rPr lang="en-GB" sz="1100" dirty="0">
                <a:solidFill>
                  <a:schemeClr val="bg1"/>
                </a:solidFill>
              </a:rPr>
              <a:t>Neo4j KG + FAISS</a:t>
            </a:r>
          </a:p>
        </p:txBody>
      </p:sp>
      <p:sp>
        <p:nvSpPr>
          <p:cNvPr id="383" name="TextBox 382">
            <a:extLst>
              <a:ext uri="{FF2B5EF4-FFF2-40B4-BE49-F238E27FC236}">
                <a16:creationId xmlns:a16="http://schemas.microsoft.com/office/drawing/2014/main" id="{DBC5C1FC-9058-5238-7D83-93BA5657865C}"/>
              </a:ext>
            </a:extLst>
          </p:cNvPr>
          <p:cNvSpPr txBox="1"/>
          <p:nvPr/>
        </p:nvSpPr>
        <p:spPr>
          <a:xfrm>
            <a:off x="105508" y="3233108"/>
            <a:ext cx="707292" cy="261610"/>
          </a:xfrm>
          <a:prstGeom prst="rect">
            <a:avLst/>
          </a:prstGeom>
          <a:noFill/>
        </p:spPr>
        <p:txBody>
          <a:bodyPr wrap="square">
            <a:spAutoFit/>
          </a:bodyPr>
          <a:lstStyle/>
          <a:p>
            <a:pPr algn="ctr">
              <a:buNone/>
            </a:pPr>
            <a:r>
              <a:rPr lang="en-GB" sz="1100" dirty="0">
                <a:solidFill>
                  <a:schemeClr val="bg1"/>
                </a:solidFill>
              </a:rPr>
              <a:t>Query</a:t>
            </a:r>
            <a:endParaRPr lang="en-GB" sz="1200" dirty="0">
              <a:solidFill>
                <a:schemeClr val="bg1"/>
              </a:solidFill>
            </a:endParaRPr>
          </a:p>
        </p:txBody>
      </p:sp>
      <p:sp>
        <p:nvSpPr>
          <p:cNvPr id="385" name="TextBox 384">
            <a:extLst>
              <a:ext uri="{FF2B5EF4-FFF2-40B4-BE49-F238E27FC236}">
                <a16:creationId xmlns:a16="http://schemas.microsoft.com/office/drawing/2014/main" id="{714BECCA-67EE-175C-FC1C-2722A66217A1}"/>
              </a:ext>
            </a:extLst>
          </p:cNvPr>
          <p:cNvSpPr txBox="1"/>
          <p:nvPr/>
        </p:nvSpPr>
        <p:spPr>
          <a:xfrm>
            <a:off x="830287" y="3240487"/>
            <a:ext cx="1465385" cy="261610"/>
          </a:xfrm>
          <a:prstGeom prst="rect">
            <a:avLst/>
          </a:prstGeom>
          <a:noFill/>
        </p:spPr>
        <p:txBody>
          <a:bodyPr wrap="square">
            <a:spAutoFit/>
          </a:bodyPr>
          <a:lstStyle/>
          <a:p>
            <a:pPr algn="ctr">
              <a:buNone/>
            </a:pPr>
            <a:r>
              <a:rPr lang="en-GB" sz="1100" dirty="0">
                <a:solidFill>
                  <a:schemeClr val="bg1"/>
                </a:solidFill>
              </a:rPr>
              <a:t>Temporal Detect</a:t>
            </a:r>
          </a:p>
        </p:txBody>
      </p:sp>
      <p:sp>
        <p:nvSpPr>
          <p:cNvPr id="387" name="TextBox 386">
            <a:extLst>
              <a:ext uri="{FF2B5EF4-FFF2-40B4-BE49-F238E27FC236}">
                <a16:creationId xmlns:a16="http://schemas.microsoft.com/office/drawing/2014/main" id="{234B8DA7-8D2D-EB4F-F0D0-FA553BE64C67}"/>
              </a:ext>
            </a:extLst>
          </p:cNvPr>
          <p:cNvSpPr txBox="1"/>
          <p:nvPr/>
        </p:nvSpPr>
        <p:spPr>
          <a:xfrm>
            <a:off x="2250051" y="3233108"/>
            <a:ext cx="1199662" cy="267894"/>
          </a:xfrm>
          <a:prstGeom prst="rect">
            <a:avLst/>
          </a:prstGeom>
          <a:noFill/>
        </p:spPr>
        <p:txBody>
          <a:bodyPr wrap="square">
            <a:spAutoFit/>
          </a:bodyPr>
          <a:lstStyle/>
          <a:p>
            <a:pPr algn="ctr">
              <a:lnSpc>
                <a:spcPts val="1500"/>
              </a:lnSpc>
              <a:buNone/>
            </a:pPr>
            <a:r>
              <a:rPr lang="en-GB" sz="1100" b="0" i="0" dirty="0">
                <a:solidFill>
                  <a:schemeClr val="bg1"/>
                </a:solidFill>
                <a:effectLst/>
                <a:latin typeface="Century Gothic" panose="020B0502020202020204" pitchFamily="34" charset="0"/>
              </a:rPr>
              <a:t>Seed</a:t>
            </a:r>
            <a:r>
              <a:rPr lang="en-GB" sz="1100" dirty="0">
                <a:solidFill>
                  <a:schemeClr val="bg1"/>
                </a:solidFill>
                <a:latin typeface="Century Gothic" panose="020B0502020202020204" pitchFamily="34" charset="0"/>
              </a:rPr>
              <a:t> </a:t>
            </a:r>
            <a:r>
              <a:rPr lang="en-GB" sz="1100" b="0" i="0" dirty="0">
                <a:solidFill>
                  <a:schemeClr val="bg1"/>
                </a:solidFill>
                <a:effectLst/>
                <a:latin typeface="Century Gothic" panose="020B0502020202020204" pitchFamily="34" charset="0"/>
              </a:rPr>
              <a:t>Retrieval</a:t>
            </a:r>
            <a:endParaRPr lang="en-GB" sz="1100" dirty="0">
              <a:solidFill>
                <a:schemeClr val="bg1"/>
              </a:solidFill>
              <a:effectLst/>
              <a:latin typeface="Century Gothic" panose="020B0502020202020204" pitchFamily="34" charset="0"/>
            </a:endParaRPr>
          </a:p>
        </p:txBody>
      </p:sp>
      <p:sp>
        <p:nvSpPr>
          <p:cNvPr id="389" name="TextBox 388">
            <a:extLst>
              <a:ext uri="{FF2B5EF4-FFF2-40B4-BE49-F238E27FC236}">
                <a16:creationId xmlns:a16="http://schemas.microsoft.com/office/drawing/2014/main" id="{CCF91908-7F45-1D6C-4F02-B9AB1CD7199B}"/>
              </a:ext>
            </a:extLst>
          </p:cNvPr>
          <p:cNvSpPr txBox="1"/>
          <p:nvPr/>
        </p:nvSpPr>
        <p:spPr>
          <a:xfrm>
            <a:off x="3588715" y="3233108"/>
            <a:ext cx="1180627" cy="261610"/>
          </a:xfrm>
          <a:prstGeom prst="rect">
            <a:avLst/>
          </a:prstGeom>
          <a:noFill/>
        </p:spPr>
        <p:txBody>
          <a:bodyPr wrap="square">
            <a:spAutoFit/>
          </a:bodyPr>
          <a:lstStyle/>
          <a:p>
            <a:pPr algn="ctr">
              <a:buNone/>
            </a:pPr>
            <a:r>
              <a:rPr lang="en-GB" sz="1100" dirty="0">
                <a:solidFill>
                  <a:schemeClr val="bg1"/>
                </a:solidFill>
              </a:rPr>
              <a:t>Temporal Filter</a:t>
            </a:r>
          </a:p>
        </p:txBody>
      </p:sp>
      <p:sp>
        <p:nvSpPr>
          <p:cNvPr id="391" name="TextBox 390">
            <a:extLst>
              <a:ext uri="{FF2B5EF4-FFF2-40B4-BE49-F238E27FC236}">
                <a16:creationId xmlns:a16="http://schemas.microsoft.com/office/drawing/2014/main" id="{FE27C0CE-6EB2-E445-DBE4-EFEC0DB7292E}"/>
              </a:ext>
            </a:extLst>
          </p:cNvPr>
          <p:cNvSpPr txBox="1"/>
          <p:nvPr/>
        </p:nvSpPr>
        <p:spPr>
          <a:xfrm>
            <a:off x="4790047" y="3129105"/>
            <a:ext cx="1285631" cy="469616"/>
          </a:xfrm>
          <a:prstGeom prst="rect">
            <a:avLst/>
          </a:prstGeom>
          <a:noFill/>
        </p:spPr>
        <p:txBody>
          <a:bodyPr wrap="square">
            <a:spAutoFit/>
          </a:bodyPr>
          <a:lstStyle/>
          <a:p>
            <a:pPr algn="ctr">
              <a:lnSpc>
                <a:spcPts val="1500"/>
              </a:lnSpc>
              <a:buNone/>
            </a:pPr>
            <a:r>
              <a:rPr lang="en-GB" sz="1100" b="0" i="0" dirty="0">
                <a:solidFill>
                  <a:schemeClr val="bg1"/>
                </a:solidFill>
                <a:effectLst/>
                <a:latin typeface="Century Gothic" panose="020B0502020202020204" pitchFamily="34" charset="0"/>
              </a:rPr>
              <a:t>GEAR</a:t>
            </a:r>
            <a:endParaRPr lang="en-GB" sz="1100" dirty="0">
              <a:solidFill>
                <a:schemeClr val="bg1"/>
              </a:solidFill>
              <a:effectLst/>
              <a:latin typeface="Century Gothic" panose="020B0502020202020204" pitchFamily="34" charset="0"/>
            </a:endParaRPr>
          </a:p>
          <a:p>
            <a:pPr algn="ctr">
              <a:lnSpc>
                <a:spcPts val="1500"/>
              </a:lnSpc>
              <a:buNone/>
            </a:pPr>
            <a:r>
              <a:rPr lang="en-GB" sz="1100" b="0" i="0" dirty="0">
                <a:solidFill>
                  <a:schemeClr val="bg1"/>
                </a:solidFill>
                <a:effectLst/>
                <a:latin typeface="Century Gothic" panose="020B0502020202020204" pitchFamily="34" charset="0"/>
              </a:rPr>
              <a:t>Beam Search</a:t>
            </a:r>
            <a:endParaRPr lang="en-GB" sz="1100" dirty="0">
              <a:solidFill>
                <a:schemeClr val="bg1"/>
              </a:solidFill>
              <a:effectLst/>
              <a:latin typeface="Century Gothic" panose="020B0502020202020204" pitchFamily="34" charset="0"/>
            </a:endParaRPr>
          </a:p>
        </p:txBody>
      </p:sp>
      <p:sp>
        <p:nvSpPr>
          <p:cNvPr id="393" name="TextBox 392">
            <a:extLst>
              <a:ext uri="{FF2B5EF4-FFF2-40B4-BE49-F238E27FC236}">
                <a16:creationId xmlns:a16="http://schemas.microsoft.com/office/drawing/2014/main" id="{88FB8804-58FF-73EF-2A23-4843B208EBE1}"/>
              </a:ext>
            </a:extLst>
          </p:cNvPr>
          <p:cNvSpPr txBox="1"/>
          <p:nvPr/>
        </p:nvSpPr>
        <p:spPr>
          <a:xfrm>
            <a:off x="6266761" y="3207588"/>
            <a:ext cx="986301" cy="287130"/>
          </a:xfrm>
          <a:prstGeom prst="rect">
            <a:avLst/>
          </a:prstGeom>
          <a:noFill/>
        </p:spPr>
        <p:txBody>
          <a:bodyPr wrap="square">
            <a:spAutoFit/>
          </a:bodyPr>
          <a:lstStyle/>
          <a:p>
            <a:pPr algn="ctr">
              <a:lnSpc>
                <a:spcPts val="1650"/>
              </a:lnSpc>
              <a:buNone/>
            </a:pPr>
            <a:r>
              <a:rPr lang="en-GB" sz="1100" i="0" dirty="0">
                <a:solidFill>
                  <a:schemeClr val="bg1"/>
                </a:solidFill>
                <a:effectLst/>
                <a:latin typeface="Century Gothic" panose="020B0502020202020204" pitchFamily="34" charset="0"/>
              </a:rPr>
              <a:t>GoG</a:t>
            </a:r>
            <a:r>
              <a:rPr lang="en-GB" sz="1100" dirty="0">
                <a:solidFill>
                  <a:schemeClr val="bg1"/>
                </a:solidFill>
                <a:latin typeface="Century Gothic" panose="020B0502020202020204" pitchFamily="34" charset="0"/>
              </a:rPr>
              <a:t> </a:t>
            </a:r>
            <a:r>
              <a:rPr lang="en-GB" sz="1100" i="0" dirty="0">
                <a:solidFill>
                  <a:schemeClr val="bg1"/>
                </a:solidFill>
                <a:effectLst/>
                <a:latin typeface="Century Gothic" panose="020B0502020202020204" pitchFamily="34" charset="0"/>
              </a:rPr>
              <a:t>Fill-in</a:t>
            </a:r>
            <a:endParaRPr lang="en-GB" sz="1100" dirty="0">
              <a:solidFill>
                <a:schemeClr val="bg1"/>
              </a:solidFill>
              <a:effectLst/>
              <a:latin typeface="Century Gothic" panose="020B0502020202020204" pitchFamily="34" charset="0"/>
            </a:endParaRPr>
          </a:p>
        </p:txBody>
      </p:sp>
      <p:sp>
        <p:nvSpPr>
          <p:cNvPr id="395" name="TextBox 394">
            <a:extLst>
              <a:ext uri="{FF2B5EF4-FFF2-40B4-BE49-F238E27FC236}">
                <a16:creationId xmlns:a16="http://schemas.microsoft.com/office/drawing/2014/main" id="{D6FD46A7-9E94-FF39-5F58-4C9EB1B615C9}"/>
              </a:ext>
            </a:extLst>
          </p:cNvPr>
          <p:cNvSpPr txBox="1"/>
          <p:nvPr/>
        </p:nvSpPr>
        <p:spPr>
          <a:xfrm>
            <a:off x="6759228" y="3171316"/>
            <a:ext cx="2908700" cy="267894"/>
          </a:xfrm>
          <a:prstGeom prst="rect">
            <a:avLst/>
          </a:prstGeom>
          <a:noFill/>
        </p:spPr>
        <p:txBody>
          <a:bodyPr wrap="square">
            <a:spAutoFit/>
          </a:bodyPr>
          <a:lstStyle/>
          <a:p>
            <a:pPr algn="ctr">
              <a:lnSpc>
                <a:spcPts val="1500"/>
              </a:lnSpc>
              <a:buNone/>
            </a:pPr>
            <a:r>
              <a:rPr lang="en-GB" sz="1100" b="0" i="0" dirty="0">
                <a:solidFill>
                  <a:schemeClr val="bg1"/>
                </a:solidFill>
                <a:effectLst/>
                <a:latin typeface="Century Gothic" panose="020B0502020202020204" pitchFamily="34" charset="0"/>
              </a:rPr>
              <a:t>MST →</a:t>
            </a:r>
            <a:r>
              <a:rPr lang="en-GB" sz="1100" dirty="0">
                <a:solidFill>
                  <a:schemeClr val="bg1"/>
                </a:solidFill>
                <a:latin typeface="Century Gothic" panose="020B0502020202020204" pitchFamily="34" charset="0"/>
              </a:rPr>
              <a:t> </a:t>
            </a:r>
            <a:r>
              <a:rPr lang="en-GB" sz="1100" b="0" i="0" dirty="0">
                <a:solidFill>
                  <a:schemeClr val="bg1"/>
                </a:solidFill>
                <a:effectLst/>
                <a:latin typeface="Century Gothic" panose="020B0502020202020204" pitchFamily="34" charset="0"/>
              </a:rPr>
              <a:t>LLM → Answer</a:t>
            </a:r>
            <a:endParaRPr lang="en-GB" sz="1100" dirty="0">
              <a:solidFill>
                <a:schemeClr val="bg1"/>
              </a:solidFill>
              <a:effectLst/>
              <a:latin typeface="Century Gothic" panose="020B0502020202020204" pitchFamily="34" charset="0"/>
            </a:endParaRPr>
          </a:p>
        </p:txBody>
      </p:sp>
      <p:sp>
        <p:nvSpPr>
          <p:cNvPr id="396" name="TextBox 12">
            <a:extLst>
              <a:ext uri="{FF2B5EF4-FFF2-40B4-BE49-F238E27FC236}">
                <a16:creationId xmlns:a16="http://schemas.microsoft.com/office/drawing/2014/main" id="{6AF81F22-8645-E990-9650-D85A6F969C86}"/>
              </a:ext>
            </a:extLst>
          </p:cNvPr>
          <p:cNvSpPr txBox="1"/>
          <p:nvPr/>
        </p:nvSpPr>
        <p:spPr>
          <a:xfrm>
            <a:off x="420078" y="2303549"/>
            <a:ext cx="2194560" cy="547783"/>
          </a:xfrm>
          <a:prstGeom prst="rect">
            <a:avLst/>
          </a:prstGeom>
        </p:spPr>
        <p:txBody>
          <a:bodyPr lIns="0" tIns="0" rIns="0" bIns="0" rtlCol="0" anchor="ctr"/>
          <a:lstStyle/>
          <a:p>
            <a:pPr algn="l">
              <a:lnSpc>
                <a:spcPts val="2639"/>
              </a:lnSpc>
            </a:pPr>
            <a:r>
              <a:rPr lang="en-US" sz="1200" b="1" spc="488" dirty="0">
                <a:solidFill>
                  <a:schemeClr val="bg1"/>
                </a:solidFill>
                <a:latin typeface="Calibri (MS) Bold"/>
                <a:ea typeface="Calibri (MS) Bold"/>
                <a:cs typeface="Calibri (MS) Bold"/>
                <a:sym typeface="Calibri (MS) Bold"/>
              </a:rPr>
              <a:t>ONLINE</a:t>
            </a:r>
          </a:p>
        </p:txBody>
      </p:sp>
      <p:cxnSp>
        <p:nvCxnSpPr>
          <p:cNvPr id="419" name="Straight Connector 418">
            <a:extLst>
              <a:ext uri="{FF2B5EF4-FFF2-40B4-BE49-F238E27FC236}">
                <a16:creationId xmlns:a16="http://schemas.microsoft.com/office/drawing/2014/main" id="{1539C98B-68E2-7AA0-B40C-A0361C416A9C}"/>
              </a:ext>
            </a:extLst>
          </p:cNvPr>
          <p:cNvCxnSpPr/>
          <p:nvPr/>
        </p:nvCxnSpPr>
        <p:spPr>
          <a:xfrm>
            <a:off x="2168580" y="1722783"/>
            <a:ext cx="1725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0" name="Straight Connector 419">
            <a:extLst>
              <a:ext uri="{FF2B5EF4-FFF2-40B4-BE49-F238E27FC236}">
                <a16:creationId xmlns:a16="http://schemas.microsoft.com/office/drawing/2014/main" id="{DAEF2302-729F-2DCE-2F51-62C7EA1296A9}"/>
              </a:ext>
            </a:extLst>
          </p:cNvPr>
          <p:cNvCxnSpPr>
            <a:cxnSpLocks/>
          </p:cNvCxnSpPr>
          <p:nvPr/>
        </p:nvCxnSpPr>
        <p:spPr>
          <a:xfrm>
            <a:off x="4445004" y="1753062"/>
            <a:ext cx="2078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C903AEEC-D00A-A0AB-4B26-8F3E65EA554C}"/>
              </a:ext>
            </a:extLst>
          </p:cNvPr>
          <p:cNvCxnSpPr>
            <a:cxnSpLocks/>
            <a:stCxn id="402" idx="3"/>
          </p:cNvCxnSpPr>
          <p:nvPr/>
        </p:nvCxnSpPr>
        <p:spPr>
          <a:xfrm flipV="1">
            <a:off x="6756794" y="1753062"/>
            <a:ext cx="137155" cy="5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24" name="Straight Connector 423">
            <a:extLst>
              <a:ext uri="{FF2B5EF4-FFF2-40B4-BE49-F238E27FC236}">
                <a16:creationId xmlns:a16="http://schemas.microsoft.com/office/drawing/2014/main" id="{14F3ECBC-3510-A26F-AAC2-495F04B4692C}"/>
              </a:ext>
            </a:extLst>
          </p:cNvPr>
          <p:cNvCxnSpPr>
            <a:cxnSpLocks/>
          </p:cNvCxnSpPr>
          <p:nvPr/>
        </p:nvCxnSpPr>
        <p:spPr>
          <a:xfrm>
            <a:off x="2320980" y="1875183"/>
            <a:ext cx="172521" cy="0"/>
          </a:xfrm>
          <a:prstGeom prst="line">
            <a:avLst/>
          </a:prstGeom>
        </p:spPr>
        <p:style>
          <a:lnRef idx="1">
            <a:schemeClr val="accent1"/>
          </a:lnRef>
          <a:fillRef idx="0">
            <a:schemeClr val="accent1"/>
          </a:fillRef>
          <a:effectRef idx="0">
            <a:schemeClr val="accent1"/>
          </a:effectRef>
          <a:fontRef idx="minor">
            <a:schemeClr val="tx1"/>
          </a:fontRef>
        </p:style>
      </p:cxnSp>
      <p:sp>
        <p:nvSpPr>
          <p:cNvPr id="429" name="TextBox 428">
            <a:extLst>
              <a:ext uri="{FF2B5EF4-FFF2-40B4-BE49-F238E27FC236}">
                <a16:creationId xmlns:a16="http://schemas.microsoft.com/office/drawing/2014/main" id="{AB3C717D-33B6-A3B7-1ADC-4F849E01AF1B}"/>
              </a:ext>
            </a:extLst>
          </p:cNvPr>
          <p:cNvSpPr txBox="1"/>
          <p:nvPr/>
        </p:nvSpPr>
        <p:spPr>
          <a:xfrm>
            <a:off x="855202" y="3950505"/>
            <a:ext cx="4836072" cy="769441"/>
          </a:xfrm>
          <a:prstGeom prst="rect">
            <a:avLst/>
          </a:prstGeom>
          <a:noFill/>
        </p:spPr>
        <p:txBody>
          <a:bodyPr wrap="square">
            <a:spAutoFit/>
          </a:bodyPr>
          <a:lstStyle/>
          <a:p>
            <a:pPr>
              <a:buNone/>
            </a:pPr>
            <a:r>
              <a:rPr lang="en-GB" sz="1100" dirty="0">
                <a:solidFill>
                  <a:schemeClr val="bg1"/>
                </a:solidFill>
              </a:rPr>
              <a:t>Our additions</a:t>
            </a:r>
            <a:endParaRPr lang="th-TH" sz="1100" dirty="0">
              <a:solidFill>
                <a:schemeClr val="bg1"/>
              </a:solidFill>
            </a:endParaRPr>
          </a:p>
          <a:p>
            <a:pPr>
              <a:buNone/>
            </a:pPr>
            <a:endParaRPr lang="th-TH" sz="1100" dirty="0">
              <a:solidFill>
                <a:schemeClr val="bg1"/>
              </a:solidFill>
            </a:endParaRPr>
          </a:p>
          <a:p>
            <a:pPr>
              <a:buNone/>
            </a:pPr>
            <a:endParaRPr lang="en-GB" sz="1100" dirty="0">
              <a:solidFill>
                <a:schemeClr val="bg1"/>
              </a:solidFill>
            </a:endParaRPr>
          </a:p>
          <a:p>
            <a:pPr>
              <a:buNone/>
            </a:pPr>
            <a:r>
              <a:rPr lang="en-GB" sz="1100" dirty="0">
                <a:solidFill>
                  <a:schemeClr val="bg1"/>
                </a:solidFill>
              </a:rPr>
              <a:t>KG²RAG backbone</a:t>
            </a:r>
          </a:p>
        </p:txBody>
      </p:sp>
      <p:sp>
        <p:nvSpPr>
          <p:cNvPr id="430" name="Rounded Rectangle 429">
            <a:extLst>
              <a:ext uri="{FF2B5EF4-FFF2-40B4-BE49-F238E27FC236}">
                <a16:creationId xmlns:a16="http://schemas.microsoft.com/office/drawing/2014/main" id="{AA0DD2EF-C779-8B9A-CFC9-D5DDB0E0571D}"/>
              </a:ext>
            </a:extLst>
          </p:cNvPr>
          <p:cNvSpPr/>
          <p:nvPr/>
        </p:nvSpPr>
        <p:spPr>
          <a:xfrm>
            <a:off x="315350" y="3876494"/>
            <a:ext cx="421426" cy="422377"/>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31" name="Rounded Rectangle 430">
            <a:extLst>
              <a:ext uri="{FF2B5EF4-FFF2-40B4-BE49-F238E27FC236}">
                <a16:creationId xmlns:a16="http://schemas.microsoft.com/office/drawing/2014/main" id="{B7C94932-A73B-44BD-1157-8AB80F52913C}"/>
              </a:ext>
            </a:extLst>
          </p:cNvPr>
          <p:cNvSpPr/>
          <p:nvPr/>
        </p:nvSpPr>
        <p:spPr>
          <a:xfrm>
            <a:off x="315350" y="4411980"/>
            <a:ext cx="421426" cy="4223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BCD"/>
          </a:solidFill>
          <a:ln w="12700">
            <a:solidFill>
              <a:srgbClr val="3D8BCD"/>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3400" b="1" dirty="0">
                <a:solidFill>
                  <a:srgbClr val="1E293B"/>
                </a:solidFill>
                <a:latin typeface="Calibri" pitchFamily="34" charset="0"/>
                <a:ea typeface="Calibri" pitchFamily="34" charset="-122"/>
                <a:cs typeface="Calibri" pitchFamily="34" charset="-120"/>
              </a:rPr>
              <a:t>Evaluation Plan</a:t>
            </a:r>
            <a:endParaRPr lang="en-US" sz="3400" dirty="0"/>
          </a:p>
        </p:txBody>
      </p:sp>
      <p:sp>
        <p:nvSpPr>
          <p:cNvPr id="4" name="Text 2"/>
          <p:cNvSpPr/>
          <p:nvPr/>
        </p:nvSpPr>
        <p:spPr>
          <a:xfrm>
            <a:off x="457200" y="841248"/>
            <a:ext cx="8229600" cy="320040"/>
          </a:xfrm>
          <a:prstGeom prst="rect">
            <a:avLst/>
          </a:prstGeom>
          <a:noFill/>
          <a:ln/>
        </p:spPr>
        <p:txBody>
          <a:bodyPr wrap="square" lIns="0" tIns="0" rIns="0" bIns="0" rtlCol="0" anchor="ctr"/>
          <a:lstStyle/>
          <a:p>
            <a:pPr marL="0" indent="0">
              <a:buNone/>
            </a:pPr>
            <a:r>
              <a:rPr lang="en-US" sz="1500" b="1" dirty="0">
                <a:solidFill>
                  <a:srgbClr val="3D8BCD"/>
                </a:solidFill>
                <a:latin typeface="Calibri" pitchFamily="34" charset="0"/>
                <a:ea typeface="Calibri" pitchFamily="34" charset="-122"/>
                <a:cs typeface="Calibri" pitchFamily="34" charset="-120"/>
              </a:rPr>
              <a:t>Datasets</a:t>
            </a:r>
            <a:endParaRPr lang="en-US" sz="1500" dirty="0"/>
          </a:p>
        </p:txBody>
      </p:sp>
      <p:sp>
        <p:nvSpPr>
          <p:cNvPr id="5" name="Shape 3"/>
          <p:cNvSpPr/>
          <p:nvPr/>
        </p:nvSpPr>
        <p:spPr>
          <a:xfrm>
            <a:off x="457200" y="1207008"/>
            <a:ext cx="3840480" cy="73152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a:p>
        </p:txBody>
      </p:sp>
      <p:sp>
        <p:nvSpPr>
          <p:cNvPr id="6" name="Text 4"/>
          <p:cNvSpPr/>
          <p:nvPr/>
        </p:nvSpPr>
        <p:spPr>
          <a:xfrm>
            <a:off x="594360" y="1271016"/>
            <a:ext cx="35661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HotpotQA</a:t>
            </a:r>
            <a:endParaRPr lang="en-US" sz="1400" dirty="0"/>
          </a:p>
        </p:txBody>
      </p:sp>
      <p:sp>
        <p:nvSpPr>
          <p:cNvPr id="7" name="Text 5"/>
          <p:cNvSpPr/>
          <p:nvPr/>
        </p:nvSpPr>
        <p:spPr>
          <a:xfrm>
            <a:off x="594360" y="1572768"/>
            <a:ext cx="3566160" cy="2926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7,405 questions  |  2-hop  |  35.0% temporal</a:t>
            </a:r>
            <a:endParaRPr lang="en-US" sz="1200" dirty="0"/>
          </a:p>
        </p:txBody>
      </p:sp>
      <p:sp>
        <p:nvSpPr>
          <p:cNvPr id="8" name="Shape 6"/>
          <p:cNvSpPr/>
          <p:nvPr/>
        </p:nvSpPr>
        <p:spPr>
          <a:xfrm>
            <a:off x="457200" y="2011680"/>
            <a:ext cx="3840480" cy="73152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a:p>
        </p:txBody>
      </p:sp>
      <p:sp>
        <p:nvSpPr>
          <p:cNvPr id="9" name="Text 7"/>
          <p:cNvSpPr/>
          <p:nvPr/>
        </p:nvSpPr>
        <p:spPr>
          <a:xfrm>
            <a:off x="594360" y="2075688"/>
            <a:ext cx="35661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MuSiQue</a:t>
            </a:r>
            <a:endParaRPr lang="en-US" sz="1400" dirty="0"/>
          </a:p>
        </p:txBody>
      </p:sp>
      <p:sp>
        <p:nvSpPr>
          <p:cNvPr id="10" name="Text 8"/>
          <p:cNvSpPr/>
          <p:nvPr/>
        </p:nvSpPr>
        <p:spPr>
          <a:xfrm>
            <a:off x="594360" y="2377440"/>
            <a:ext cx="3566160" cy="2926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2,417 questions  |  2–4 hop  |  38.3% temporal</a:t>
            </a:r>
            <a:endParaRPr lang="en-US" sz="1200" dirty="0"/>
          </a:p>
        </p:txBody>
      </p:sp>
      <p:sp>
        <p:nvSpPr>
          <p:cNvPr id="11" name="Text 9"/>
          <p:cNvSpPr/>
          <p:nvPr/>
        </p:nvSpPr>
        <p:spPr>
          <a:xfrm>
            <a:off x="457200" y="2880360"/>
            <a:ext cx="8229600" cy="320040"/>
          </a:xfrm>
          <a:prstGeom prst="rect">
            <a:avLst/>
          </a:prstGeom>
          <a:noFill/>
          <a:ln/>
        </p:spPr>
        <p:txBody>
          <a:bodyPr wrap="square" lIns="0" tIns="0" rIns="0" bIns="0" rtlCol="0" anchor="ctr"/>
          <a:lstStyle/>
          <a:p>
            <a:pPr marL="0" indent="0">
              <a:buNone/>
            </a:pPr>
            <a:r>
              <a:rPr lang="en-US" sz="1500" b="1" dirty="0">
                <a:solidFill>
                  <a:srgbClr val="3D8BCD"/>
                </a:solidFill>
                <a:latin typeface="Calibri" pitchFamily="34" charset="0"/>
                <a:ea typeface="Calibri" pitchFamily="34" charset="-122"/>
                <a:cs typeface="Calibri" pitchFamily="34" charset="-120"/>
              </a:rPr>
              <a:t>Metrics</a:t>
            </a:r>
            <a:endParaRPr lang="en-US" sz="1500" dirty="0"/>
          </a:p>
        </p:txBody>
      </p:sp>
      <p:sp>
        <p:nvSpPr>
          <p:cNvPr id="12" name="Text 10"/>
          <p:cNvSpPr/>
          <p:nvPr/>
        </p:nvSpPr>
        <p:spPr>
          <a:xfrm>
            <a:off x="457200" y="3246120"/>
            <a:ext cx="3770026" cy="1005840"/>
          </a:xfrm>
          <a:prstGeom prst="rect">
            <a:avLst/>
          </a:prstGeom>
          <a:noFill/>
          <a:ln/>
        </p:spPr>
        <p:txBody>
          <a:bodyPr wrap="square" lIns="0" tIns="0" rIns="0" bIns="0" rtlCol="0" anchor="t"/>
          <a:lstStyle/>
          <a:p>
            <a:pPr marL="0" indent="0">
              <a:buNone/>
            </a:pPr>
            <a:r>
              <a:rPr lang="en-US" sz="1200" b="1" dirty="0">
                <a:solidFill>
                  <a:srgbClr val="1E293B"/>
                </a:solidFill>
                <a:latin typeface="Calibri" pitchFamily="34" charset="0"/>
                <a:ea typeface="Calibri" pitchFamily="34" charset="-122"/>
                <a:cs typeface="Calibri" pitchFamily="34" charset="-120"/>
              </a:rPr>
              <a:t>F1 &amp; EM  </a:t>
            </a:r>
            <a:r>
              <a:rPr lang="en-US" sz="1200" dirty="0">
                <a:solidFill>
                  <a:srgbClr val="1E293B"/>
                </a:solidFill>
                <a:latin typeface="Calibri" pitchFamily="34" charset="0"/>
                <a:ea typeface="Calibri" pitchFamily="34" charset="-122"/>
                <a:cs typeface="Calibri" pitchFamily="34" charset="-120"/>
              </a:rPr>
              <a:t>(overall + temporal / non-temporal subsets)</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Retrieval Precision@5  </a:t>
            </a:r>
            <a:r>
              <a:rPr lang="en-US" sz="1200" dirty="0">
                <a:solidFill>
                  <a:srgbClr val="1E293B"/>
                </a:solidFill>
                <a:latin typeface="Calibri" pitchFamily="34" charset="0"/>
                <a:ea typeface="Calibri" pitchFamily="34" charset="-122"/>
                <a:cs typeface="Calibri" pitchFamily="34" charset="-120"/>
              </a:rPr>
              <a:t>(gold supporting facts retrieved)</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Temporal Extraction F1  </a:t>
            </a:r>
            <a:r>
              <a:rPr lang="en-US" sz="1200" dirty="0">
                <a:solidFill>
                  <a:srgbClr val="1E293B"/>
                </a:solidFill>
                <a:latin typeface="Calibri" pitchFamily="34" charset="0"/>
                <a:ea typeface="Calibri" pitchFamily="34" charset="-122"/>
                <a:cs typeface="Calibri" pitchFamily="34" charset="-120"/>
              </a:rPr>
              <a:t>(RQ3, ±1 year tolerance)</a:t>
            </a:r>
            <a:endParaRPr lang="en-US" sz="1200" dirty="0"/>
          </a:p>
        </p:txBody>
      </p:sp>
      <p:sp>
        <p:nvSpPr>
          <p:cNvPr id="13" name="Text 11"/>
          <p:cNvSpPr/>
          <p:nvPr/>
        </p:nvSpPr>
        <p:spPr>
          <a:xfrm>
            <a:off x="4572000" y="548640"/>
            <a:ext cx="4389120" cy="320040"/>
          </a:xfrm>
          <a:prstGeom prst="rect">
            <a:avLst/>
          </a:prstGeom>
          <a:noFill/>
          <a:ln/>
        </p:spPr>
        <p:txBody>
          <a:bodyPr wrap="square" lIns="0" tIns="0" rIns="0" bIns="0" rtlCol="0" anchor="ctr"/>
          <a:lstStyle/>
          <a:p>
            <a:pPr marL="0" indent="0">
              <a:buNone/>
            </a:pPr>
            <a:r>
              <a:rPr lang="en-US" sz="1500" b="1" dirty="0">
                <a:solidFill>
                  <a:srgbClr val="3D8BCD"/>
                </a:solidFill>
                <a:latin typeface="Calibri" pitchFamily="34" charset="0"/>
                <a:ea typeface="Calibri" pitchFamily="34" charset="-122"/>
                <a:cs typeface="Calibri" pitchFamily="34" charset="-120"/>
              </a:rPr>
              <a:t>Ablation Design</a:t>
            </a:r>
            <a:endParaRPr lang="en-US" sz="1500" dirty="0"/>
          </a:p>
        </p:txBody>
      </p:sp>
      <p:sp>
        <p:nvSpPr>
          <p:cNvPr id="15" name="Text 12"/>
          <p:cNvSpPr/>
          <p:nvPr/>
        </p:nvSpPr>
        <p:spPr>
          <a:xfrm>
            <a:off x="4572000" y="3154680"/>
            <a:ext cx="4389120" cy="320040"/>
          </a:xfrm>
          <a:prstGeom prst="rect">
            <a:avLst/>
          </a:prstGeom>
          <a:noFill/>
          <a:ln/>
        </p:spPr>
        <p:txBody>
          <a:bodyPr wrap="square" lIns="0" tIns="0" rIns="0" bIns="0" rtlCol="0" anchor="ctr"/>
          <a:lstStyle/>
          <a:p>
            <a:pPr marL="0" indent="0">
              <a:buNone/>
            </a:pPr>
            <a:r>
              <a:rPr lang="en-US" sz="1500" b="1" dirty="0">
                <a:solidFill>
                  <a:srgbClr val="3D8BCD"/>
                </a:solidFill>
                <a:latin typeface="Calibri" pitchFamily="34" charset="0"/>
                <a:ea typeface="Calibri" pitchFamily="34" charset="-122"/>
                <a:cs typeface="Calibri" pitchFamily="34" charset="-120"/>
              </a:rPr>
              <a:t>Expected Results Table</a:t>
            </a:r>
            <a:endParaRPr lang="en-US" sz="1500" dirty="0"/>
          </a:p>
        </p:txBody>
      </p:sp>
      <p:sp>
        <p:nvSpPr>
          <p:cNvPr id="19" name="Text 16"/>
          <p:cNvSpPr/>
          <p:nvPr/>
        </p:nvSpPr>
        <p:spPr>
          <a:xfrm>
            <a:off x="8412480" y="4864608"/>
            <a:ext cx="640080" cy="201168"/>
          </a:xfrm>
          <a:prstGeom prst="rect">
            <a:avLst/>
          </a:prstGeom>
          <a:noFill/>
          <a:ln/>
        </p:spPr>
        <p:txBody>
          <a:bodyPr wrap="square" lIns="0" tIns="0" rIns="0" bIns="0" rtlCol="0" anchor="ctr"/>
          <a:lstStyle/>
          <a:p>
            <a:pPr marL="0" indent="0" algn="r">
              <a:buNone/>
            </a:pPr>
            <a:r>
              <a:rPr lang="en-US" sz="900" dirty="0">
                <a:solidFill>
                  <a:srgbClr val="AAAAAA"/>
                </a:solidFill>
              </a:rPr>
              <a:t>6 / 7</a:t>
            </a:r>
            <a:endParaRPr lang="en-US" sz="900" dirty="0"/>
          </a:p>
        </p:txBody>
      </p:sp>
      <p:pic>
        <p:nvPicPr>
          <p:cNvPr id="21" name="Picture 20" descr="A table with text and symbols&#10;&#10;AI-generated content may be incorrect.">
            <a:extLst>
              <a:ext uri="{FF2B5EF4-FFF2-40B4-BE49-F238E27FC236}">
                <a16:creationId xmlns:a16="http://schemas.microsoft.com/office/drawing/2014/main" id="{B4F3806A-2DC0-6A1C-7EB2-37ED88F1E251}"/>
              </a:ext>
            </a:extLst>
          </p:cNvPr>
          <p:cNvPicPr>
            <a:picLocks noChangeAspect="1"/>
          </p:cNvPicPr>
          <p:nvPr/>
        </p:nvPicPr>
        <p:blipFill>
          <a:blip r:embed="rId3"/>
          <a:stretch>
            <a:fillRect/>
          </a:stretch>
        </p:blipFill>
        <p:spPr>
          <a:xfrm>
            <a:off x="4572000" y="843863"/>
            <a:ext cx="4015740" cy="2173657"/>
          </a:xfrm>
          <a:prstGeom prst="rect">
            <a:avLst/>
          </a:prstGeom>
        </p:spPr>
      </p:pic>
      <p:pic>
        <p:nvPicPr>
          <p:cNvPr id="23" name="Picture 22" descr="A table with black and white text&#10;&#10;AI-generated content may be incorrect.">
            <a:extLst>
              <a:ext uri="{FF2B5EF4-FFF2-40B4-BE49-F238E27FC236}">
                <a16:creationId xmlns:a16="http://schemas.microsoft.com/office/drawing/2014/main" id="{B83E9206-37C5-C988-66EE-1D3E7689343B}"/>
              </a:ext>
            </a:extLst>
          </p:cNvPr>
          <p:cNvPicPr>
            <a:picLocks noChangeAspect="1"/>
          </p:cNvPicPr>
          <p:nvPr/>
        </p:nvPicPr>
        <p:blipFill>
          <a:blip r:embed="rId4"/>
          <a:stretch>
            <a:fillRect/>
          </a:stretch>
        </p:blipFill>
        <p:spPr>
          <a:xfrm>
            <a:off x="4493172" y="3426667"/>
            <a:ext cx="4467948" cy="138338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D8BCD"/>
          </a:solidFill>
          <a:ln w="12700">
            <a:solidFill>
              <a:srgbClr val="3D8BCD"/>
            </a:solidFill>
            <a:prstDash val="solid"/>
          </a:ln>
        </p:spPr>
        <p:txBody>
          <a:bodyPr/>
          <a:lstStyle/>
          <a:p>
            <a:endParaRPr lang="en-US">
              <a:latin typeface="Century Gothic" panose="020B0502020202020204" pitchFamily="34" charset="0"/>
            </a:endParaRPr>
          </a:p>
        </p:txBody>
      </p:sp>
      <p:sp>
        <p:nvSpPr>
          <p:cNvPr id="3" name="Text 1"/>
          <p:cNvSpPr/>
          <p:nvPr/>
        </p:nvSpPr>
        <p:spPr>
          <a:xfrm>
            <a:off x="365760" y="182880"/>
            <a:ext cx="8412480" cy="548640"/>
          </a:xfrm>
          <a:prstGeom prst="rect">
            <a:avLst/>
          </a:prstGeom>
          <a:noFill/>
          <a:ln/>
        </p:spPr>
        <p:txBody>
          <a:bodyPr wrap="square" lIns="0" tIns="0" rIns="0" bIns="0" rtlCol="0" anchor="ctr"/>
          <a:lstStyle/>
          <a:p>
            <a:pPr marL="0" indent="0">
              <a:buNone/>
            </a:pPr>
            <a:r>
              <a:rPr lang="en-US" sz="3400" b="1" dirty="0">
                <a:solidFill>
                  <a:srgbClr val="FFFFFF"/>
                </a:solidFill>
                <a:latin typeface="Century Gothic" panose="020B0502020202020204" pitchFamily="34" charset="0"/>
                <a:ea typeface="Calibri" pitchFamily="34" charset="-122"/>
                <a:cs typeface="Calibri" pitchFamily="34" charset="-120"/>
              </a:rPr>
              <a:t>Progress &amp; Takeaway</a:t>
            </a:r>
            <a:endParaRPr lang="en-US" sz="3400" dirty="0">
              <a:latin typeface="Century Gothic" panose="020B0502020202020204" pitchFamily="34" charset="0"/>
            </a:endParaRPr>
          </a:p>
        </p:txBody>
      </p:sp>
      <p:sp>
        <p:nvSpPr>
          <p:cNvPr id="4" name="Text 2"/>
          <p:cNvSpPr/>
          <p:nvPr/>
        </p:nvSpPr>
        <p:spPr>
          <a:xfrm>
            <a:off x="594360" y="1531620"/>
            <a:ext cx="2606040" cy="347472"/>
          </a:xfrm>
          <a:prstGeom prst="rect">
            <a:avLst/>
          </a:prstGeom>
          <a:noFill/>
          <a:ln/>
        </p:spPr>
        <p:txBody>
          <a:bodyPr wrap="square" lIns="0" tIns="0" rIns="0" bIns="0" rtlCol="0" anchor="ctr"/>
          <a:lstStyle/>
          <a:p>
            <a:pPr marL="0" indent="0">
              <a:buNone/>
            </a:pPr>
            <a:r>
              <a:rPr lang="en-US" sz="1400" b="1" dirty="0">
                <a:solidFill>
                  <a:srgbClr val="34D399"/>
                </a:solidFill>
                <a:latin typeface="Century Gothic" panose="020B0502020202020204" pitchFamily="34" charset="0"/>
                <a:ea typeface="Calibri" pitchFamily="34" charset="-122"/>
                <a:cs typeface="Calibri" pitchFamily="34" charset="-120"/>
              </a:rPr>
              <a:t>✓  Completed</a:t>
            </a:r>
            <a:endParaRPr lang="en-US" sz="1400" dirty="0">
              <a:latin typeface="Century Gothic" panose="020B0502020202020204" pitchFamily="34" charset="0"/>
            </a:endParaRPr>
          </a:p>
        </p:txBody>
      </p:sp>
      <p:sp>
        <p:nvSpPr>
          <p:cNvPr id="5" name="Text 3"/>
          <p:cNvSpPr/>
          <p:nvPr/>
        </p:nvSpPr>
        <p:spPr>
          <a:xfrm>
            <a:off x="594360" y="1952244"/>
            <a:ext cx="2606040" cy="2148840"/>
          </a:xfrm>
          <a:prstGeom prst="rect">
            <a:avLst/>
          </a:prstGeom>
          <a:noFill/>
          <a:ln/>
        </p:spPr>
        <p:txBody>
          <a:bodyPr wrap="square" lIns="0" tIns="0" rIns="0" bIns="0" rtlCol="0" anchor="t"/>
          <a:lstStyle/>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Literature review (16 papers)</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EDA: HotpotQA + MuSiQue</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Temporal failure taxonomy (4 types)</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Competitor analysis (EvoReasoner)</a:t>
            </a:r>
            <a:endParaRPr lang="en-US" sz="1200" dirty="0">
              <a:latin typeface="Century Gothic" panose="020B0502020202020204" pitchFamily="34" charset="0"/>
            </a:endParaRPr>
          </a:p>
        </p:txBody>
      </p:sp>
      <p:sp>
        <p:nvSpPr>
          <p:cNvPr id="6" name="Text 4"/>
          <p:cNvSpPr/>
          <p:nvPr/>
        </p:nvSpPr>
        <p:spPr>
          <a:xfrm>
            <a:off x="3429000" y="1531620"/>
            <a:ext cx="2606040" cy="347472"/>
          </a:xfrm>
          <a:prstGeom prst="rect">
            <a:avLst/>
          </a:prstGeom>
          <a:noFill/>
          <a:ln/>
        </p:spPr>
        <p:txBody>
          <a:bodyPr wrap="square" lIns="0" tIns="0" rIns="0" bIns="0" rtlCol="0" anchor="ctr"/>
          <a:lstStyle/>
          <a:p>
            <a:pPr marL="0" indent="0">
              <a:buNone/>
            </a:pPr>
            <a:r>
              <a:rPr lang="en-US" sz="1400" b="1" dirty="0">
                <a:solidFill>
                  <a:srgbClr val="FCD34D"/>
                </a:solidFill>
                <a:latin typeface="Century Gothic" panose="020B0502020202020204" pitchFamily="34" charset="0"/>
                <a:ea typeface="Calibri" pitchFamily="34" charset="-122"/>
                <a:cs typeface="Calibri" pitchFamily="34" charset="-120"/>
              </a:rPr>
              <a:t>▶  In Progress</a:t>
            </a:r>
            <a:endParaRPr lang="en-US" sz="1400" dirty="0">
              <a:latin typeface="Century Gothic" panose="020B0502020202020204" pitchFamily="34" charset="0"/>
            </a:endParaRPr>
          </a:p>
        </p:txBody>
      </p:sp>
      <p:sp>
        <p:nvSpPr>
          <p:cNvPr id="7" name="Text 5"/>
          <p:cNvSpPr/>
          <p:nvPr/>
        </p:nvSpPr>
        <p:spPr>
          <a:xfrm>
            <a:off x="3429000" y="1952244"/>
            <a:ext cx="2606040" cy="2148840"/>
          </a:xfrm>
          <a:prstGeom prst="rect">
            <a:avLst/>
          </a:prstGeom>
          <a:noFill/>
          <a:ln/>
        </p:spPr>
        <p:txBody>
          <a:bodyPr wrap="square" lIns="0" tIns="0" rIns="0" bIns="0" rtlCol="0" anchor="t"/>
          <a:lstStyle/>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Neo4j schema + setup</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Temporal extraction prompts</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GitHub repository setup</a:t>
            </a:r>
            <a:endParaRPr lang="en-US" sz="1200" dirty="0">
              <a:latin typeface="Century Gothic" panose="020B0502020202020204" pitchFamily="34" charset="0"/>
            </a:endParaRPr>
          </a:p>
        </p:txBody>
      </p:sp>
      <p:sp>
        <p:nvSpPr>
          <p:cNvPr id="8" name="Text 6"/>
          <p:cNvSpPr/>
          <p:nvPr/>
        </p:nvSpPr>
        <p:spPr>
          <a:xfrm>
            <a:off x="6172200" y="1531620"/>
            <a:ext cx="2606040" cy="347472"/>
          </a:xfrm>
          <a:prstGeom prst="rect">
            <a:avLst/>
          </a:prstGeom>
          <a:noFill/>
          <a:ln/>
        </p:spPr>
        <p:txBody>
          <a:bodyPr wrap="square" lIns="0" tIns="0" rIns="0" bIns="0" rtlCol="0" anchor="ctr"/>
          <a:lstStyle/>
          <a:p>
            <a:pPr marL="0" indent="0">
              <a:buNone/>
            </a:pPr>
            <a:r>
              <a:rPr lang="en-US" sz="1400" b="1" dirty="0">
                <a:solidFill>
                  <a:srgbClr val="94A3B8"/>
                </a:solidFill>
                <a:latin typeface="Century Gothic" panose="020B0502020202020204" pitchFamily="34" charset="0"/>
                <a:ea typeface="Calibri" pitchFamily="34" charset="-122"/>
                <a:cs typeface="Calibri" pitchFamily="34" charset="-120"/>
              </a:rPr>
              <a:t>□  Remaining</a:t>
            </a:r>
            <a:endParaRPr lang="en-US" sz="1400" dirty="0">
              <a:latin typeface="Century Gothic" panose="020B0502020202020204" pitchFamily="34" charset="0"/>
            </a:endParaRPr>
          </a:p>
        </p:txBody>
      </p:sp>
      <p:sp>
        <p:nvSpPr>
          <p:cNvPr id="9" name="Text 7"/>
          <p:cNvSpPr/>
          <p:nvPr/>
        </p:nvSpPr>
        <p:spPr>
          <a:xfrm>
            <a:off x="6172200" y="1952244"/>
            <a:ext cx="2606040" cy="2148840"/>
          </a:xfrm>
          <a:prstGeom prst="rect">
            <a:avLst/>
          </a:prstGeom>
          <a:noFill/>
          <a:ln/>
        </p:spPr>
        <p:txBody>
          <a:bodyPr wrap="square" lIns="0" tIns="0" rIns="0" bIns="0" rtlCol="0" anchor="t"/>
          <a:lstStyle/>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KG²RAG baseline reproduction</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Manual annotation (200 passages)</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Full pipeline implementation</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Ablation experiments</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Streamlit demo</a:t>
            </a:r>
            <a:endParaRPr lang="en-US" sz="1200" dirty="0">
              <a:latin typeface="Century Gothic" panose="020B0502020202020204" pitchFamily="34" charset="0"/>
            </a:endParaRPr>
          </a:p>
        </p:txBody>
      </p:sp>
      <p:sp>
        <p:nvSpPr>
          <p:cNvPr id="10" name="Shape 8"/>
          <p:cNvSpPr/>
          <p:nvPr/>
        </p:nvSpPr>
        <p:spPr>
          <a:xfrm>
            <a:off x="365760" y="3611880"/>
            <a:ext cx="8412480" cy="914400"/>
          </a:xfrm>
          <a:prstGeom prst="rect">
            <a:avLst/>
          </a:prstGeom>
          <a:solidFill>
            <a:srgbClr val="3D8BCD">
              <a:alpha val="18000"/>
            </a:srgbClr>
          </a:solidFill>
          <a:ln w="12700">
            <a:solidFill>
              <a:srgbClr val="3D8BCD"/>
            </a:solidFill>
            <a:prstDash val="solid"/>
          </a:ln>
        </p:spPr>
        <p:txBody>
          <a:bodyPr/>
          <a:lstStyle/>
          <a:p>
            <a:endParaRPr lang="en-US">
              <a:latin typeface="Century Gothic" panose="020B0502020202020204" pitchFamily="34" charset="0"/>
            </a:endParaRPr>
          </a:p>
        </p:txBody>
      </p:sp>
      <p:sp>
        <p:nvSpPr>
          <p:cNvPr id="11" name="Text 9"/>
          <p:cNvSpPr/>
          <p:nvPr/>
        </p:nvSpPr>
        <p:spPr>
          <a:xfrm>
            <a:off x="548640" y="3639312"/>
            <a:ext cx="8046720" cy="841248"/>
          </a:xfrm>
          <a:prstGeom prst="rect">
            <a:avLst/>
          </a:prstGeom>
          <a:noFill/>
          <a:ln/>
        </p:spPr>
        <p:txBody>
          <a:bodyPr wrap="square" lIns="0" tIns="0" rIns="0" bIns="0" rtlCol="0" anchor="ctr"/>
          <a:lstStyle/>
          <a:p>
            <a:pPr marL="0" indent="0" algn="ctr">
              <a:buNone/>
            </a:pPr>
            <a:r>
              <a:rPr lang="en-US" sz="1500" b="1" dirty="0">
                <a:latin typeface="Century Gothic" panose="020B0502020202020204" pitchFamily="34" charset="0"/>
                <a:ea typeface="Calibri" pitchFamily="34" charset="-122"/>
                <a:cs typeface="Calibri" pitchFamily="34" charset="-120"/>
              </a:rPr>
              <a:t>"Temporal validity should be a first-class property of KG edges — not an optional annotation."</a:t>
            </a:r>
            <a:endParaRPr lang="en-US" sz="1500" b="1" dirty="0">
              <a:latin typeface="Century Gothic" panose="020B0502020202020204" pitchFamily="34" charset="0"/>
            </a:endParaRPr>
          </a:p>
        </p:txBody>
      </p:sp>
      <p:sp>
        <p:nvSpPr>
          <p:cNvPr id="12" name="Text 10"/>
          <p:cNvSpPr/>
          <p:nvPr/>
        </p:nvSpPr>
        <p:spPr>
          <a:xfrm>
            <a:off x="8412480" y="4864608"/>
            <a:ext cx="640080" cy="201168"/>
          </a:xfrm>
          <a:prstGeom prst="rect">
            <a:avLst/>
          </a:prstGeom>
          <a:noFill/>
          <a:ln/>
        </p:spPr>
        <p:txBody>
          <a:bodyPr wrap="square" lIns="0" tIns="0" rIns="0" bIns="0" rtlCol="0" anchor="ctr"/>
          <a:lstStyle/>
          <a:p>
            <a:pPr marL="0" indent="0" algn="r">
              <a:buNone/>
            </a:pPr>
            <a:r>
              <a:rPr lang="en-US" sz="900" dirty="0">
                <a:solidFill>
                  <a:srgbClr val="4A6B8A"/>
                </a:solidFill>
                <a:latin typeface="Century Gothic" panose="020B0502020202020204" pitchFamily="34" charset="0"/>
              </a:rPr>
              <a:t>7 / 7</a:t>
            </a:r>
            <a:endParaRPr lang="en-US" sz="900" dirty="0">
              <a:latin typeface="Century Gothic" panose="020B0502020202020204"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90</TotalTime>
  <Words>1234</Words>
  <Application>Microsoft Macintosh PowerPoint</Application>
  <PresentationFormat>On-screen Show (16:9)</PresentationFormat>
  <Paragraphs>137</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Calibri (MS) Bold</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TempoRAG-KG</dc:title>
  <dc:subject>PptxGenJS Presentation</dc:subject>
  <dc:creator>Supanut Kompayak et al.</dc:creator>
  <cp:lastModifiedBy>Supanut Kompayak</cp:lastModifiedBy>
  <cp:revision>3</cp:revision>
  <dcterms:created xsi:type="dcterms:W3CDTF">2026-03-22T23:54:26Z</dcterms:created>
  <dcterms:modified xsi:type="dcterms:W3CDTF">2026-03-23T02:50:25Z</dcterms:modified>
</cp:coreProperties>
</file>